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69a707d417945ec" /><Relationship Type="http://schemas.openxmlformats.org/officeDocument/2006/relationships/extended-properties" Target="/docProps/app.xml" Id="Rf084d40ba5b74052" /><Relationship Type="http://schemas.openxmlformats.org/officeDocument/2006/relationships/officeDocument" Target="/ppt/presentation.xml" Id="Rd0057f8db42d467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67165e40d8c49df"/>
  </p:sldMasterIdLst>
  <p:notesMasterIdLst>
    <p:notesMasterId xmlns:r="http://schemas.openxmlformats.org/officeDocument/2006/relationships" r:id="R4c410e1867534b85"/>
  </p:notesMasterIdLst>
  <p:sldIdLst>
    <p:sldId xmlns:r="http://schemas.openxmlformats.org/officeDocument/2006/relationships" id="256" r:id="Reee7a918dd054f2e"/>
    <p:sldId xmlns:r="http://schemas.openxmlformats.org/officeDocument/2006/relationships" id="257" r:id="R2551a5f5f620437d"/>
    <p:sldId xmlns:r="http://schemas.openxmlformats.org/officeDocument/2006/relationships" id="258" r:id="R6698d9cd79844880"/>
    <p:sldId xmlns:r="http://schemas.openxmlformats.org/officeDocument/2006/relationships" id="259" r:id="R99f50082a51746fe"/>
    <p:sldId xmlns:r="http://schemas.openxmlformats.org/officeDocument/2006/relationships" id="260" r:id="Rb584223fafb0418e"/>
    <p:sldId xmlns:r="http://schemas.openxmlformats.org/officeDocument/2006/relationships" id="261" r:id="R0fd6989b7c9541e9"/>
    <p:sldId xmlns:r="http://schemas.openxmlformats.org/officeDocument/2006/relationships" id="262" r:id="Re9f8dc5c354d43df"/>
    <p:sldId xmlns:r="http://schemas.openxmlformats.org/officeDocument/2006/relationships" id="263" r:id="Rb9857f536c4e4493"/>
    <p:sldId xmlns:r="http://schemas.openxmlformats.org/officeDocument/2006/relationships" id="264" r:id="Ra86f451cd6394602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7165e40d8c49df" /><Relationship Type="http://schemas.openxmlformats.org/officeDocument/2006/relationships/theme" Target="/ppt/theme/theme1.xml" Id="R1a02f366548d47f7" /><Relationship Type="http://schemas.openxmlformats.org/officeDocument/2006/relationships/notesMaster" Target="/ppt/notesMasters/notesMaster1.xml" Id="R4c410e1867534b85" /><Relationship Type="http://schemas.openxmlformats.org/officeDocument/2006/relationships/presProps" Target="/ppt/presProps.xml" Id="R3d1eafe42bfd4638" /><Relationship Type="http://schemas.openxmlformats.org/officeDocument/2006/relationships/viewProps" Target="/ppt/viewProps.xml" Id="Re57072c4dda84f03" /><Relationship Type="http://schemas.openxmlformats.org/officeDocument/2006/relationships/tableStyles" Target="/ppt/tableStyles.xml" Id="R6259741582994c92" /><Relationship Type="http://schemas.openxmlformats.org/officeDocument/2006/relationships/slide" Target="/ppt/slides/slide1.xml" Id="Reee7a918dd054f2e" /><Relationship Type="http://schemas.openxmlformats.org/officeDocument/2006/relationships/slide" Target="/ppt/slides/slide2.xml" Id="R2551a5f5f620437d" /><Relationship Type="http://schemas.openxmlformats.org/officeDocument/2006/relationships/slide" Target="/ppt/slides/slide3.xml" Id="R6698d9cd79844880" /><Relationship Type="http://schemas.openxmlformats.org/officeDocument/2006/relationships/slide" Target="/ppt/slides/slide4.xml" Id="R99f50082a51746fe" /><Relationship Type="http://schemas.openxmlformats.org/officeDocument/2006/relationships/slide" Target="/ppt/slides/slide5.xml" Id="Rb584223fafb0418e" /><Relationship Type="http://schemas.openxmlformats.org/officeDocument/2006/relationships/slide" Target="/ppt/slides/slide6.xml" Id="R0fd6989b7c9541e9" /><Relationship Type="http://schemas.openxmlformats.org/officeDocument/2006/relationships/slide" Target="/ppt/slides/slide7.xml" Id="Re9f8dc5c354d43df" /><Relationship Type="http://schemas.openxmlformats.org/officeDocument/2006/relationships/slide" Target="/ppt/slides/slide8.xml" Id="Rb9857f536c4e4493" /><Relationship Type="http://schemas.openxmlformats.org/officeDocument/2006/relationships/slide" Target="/ppt/slides/slide9.xml" Id="Ra86f451cd639460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0747dd9fa6c744f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ec4855393e84d7f" /><Relationship Type="http://schemas.openxmlformats.org/officeDocument/2006/relationships/notesMaster" Target="/ppt/notesMasters/notesMaster1.xml" Id="R0fee9d5a966f48e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3b6beb8b10448ad" /><Relationship Type="http://schemas.openxmlformats.org/officeDocument/2006/relationships/notesMaster" Target="/ppt/notesMasters/notesMaster1.xml" Id="R299f6a3f376140c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9461962d8eb4528" /><Relationship Type="http://schemas.openxmlformats.org/officeDocument/2006/relationships/notesMaster" Target="/ppt/notesMasters/notesMaster1.xml" Id="R83389075ef694a2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f6084d041464d6c" /><Relationship Type="http://schemas.openxmlformats.org/officeDocument/2006/relationships/notesMaster" Target="/ppt/notesMasters/notesMaster1.xml" Id="Ree7ef616b506486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36c060be40c4314" /><Relationship Type="http://schemas.openxmlformats.org/officeDocument/2006/relationships/notesMaster" Target="/ppt/notesMasters/notesMaster1.xml" Id="R76cf6f1278e0450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804ca926ea142a2" /><Relationship Type="http://schemas.openxmlformats.org/officeDocument/2006/relationships/notesMaster" Target="/ppt/notesMasters/notesMaster1.xml" Id="Rb748d5f5dcca481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f1e2d4acdae452f" /><Relationship Type="http://schemas.openxmlformats.org/officeDocument/2006/relationships/notesMaster" Target="/ppt/notesMasters/notesMaster1.xml" Id="Rf975bcb8d21d440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85e7f30afe14e12" /><Relationship Type="http://schemas.openxmlformats.org/officeDocument/2006/relationships/notesMaster" Target="/ppt/notesMasters/notesMaster1.xml" Id="R33cf650c392c412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166c74c4b3c4c01" /><Relationship Type="http://schemas.openxmlformats.org/officeDocument/2006/relationships/notesMaster" Target="/ppt/notesMasters/notesMaster1.xml" Id="Rca94946f6e04468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51f154387b4daa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cb9720f05c484b4c" /><Relationship Type="http://schemas.openxmlformats.org/officeDocument/2006/relationships/slideLayout" Target="/ppt/slideLayouts/slideLayout2.xml" Id="R522f6fde1cf045d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22f6fde1cf045d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c4dd33a67c14f41" /><Relationship Type="http://schemas.openxmlformats.org/officeDocument/2006/relationships/notesSlide" Target="/ppt/notesSlides/notesSlide1.xml" Id="Rd32d78ba4b1d48c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437ea8479e14b32" /><Relationship Type="http://schemas.openxmlformats.org/officeDocument/2006/relationships/notesSlide" Target="/ppt/notesSlides/notesSlide2.xml" Id="R1a62a9c7b4da4d6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7e410b9291c4b45" /><Relationship Type="http://schemas.openxmlformats.org/officeDocument/2006/relationships/chart" Target="/ppt/slides/charts/chart1.xml" Id="Reb53d5d8b8214a13" /><Relationship Type="http://schemas.openxmlformats.org/officeDocument/2006/relationships/notesSlide" Target="/ppt/notesSlides/notesSlide3.xml" Id="R1ae91aa9448a4c8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2844059f05f49f4" /><Relationship Type="http://schemas.openxmlformats.org/officeDocument/2006/relationships/image" Target="/ppt/media/image.png" Id="R69fdb68850bd402a" /><Relationship Type="http://schemas.openxmlformats.org/officeDocument/2006/relationships/notesSlide" Target="/ppt/notesSlides/notesSlide4.xml" Id="R93682ab51b52467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3402cc7490d47ff" /><Relationship Type="http://schemas.openxmlformats.org/officeDocument/2006/relationships/image" Target="/ppt/media/image2.png" Id="Ra3610d0a3ab54474" /><Relationship Type="http://schemas.openxmlformats.org/officeDocument/2006/relationships/notesSlide" Target="/ppt/notesSlides/notesSlide5.xml" Id="Rb562d7a436ab4e8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428a33963124366" /><Relationship Type="http://schemas.openxmlformats.org/officeDocument/2006/relationships/image" Target="/ppt/media/image3.png" Id="R0ecc4eb3f4404a35" /><Relationship Type="http://schemas.openxmlformats.org/officeDocument/2006/relationships/notesSlide" Target="/ppt/notesSlides/notesSlide6.xml" Id="R61ff3ee9e612474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a6ed645fb774e47" /><Relationship Type="http://schemas.openxmlformats.org/officeDocument/2006/relationships/notesSlide" Target="/ppt/notesSlides/notesSlide7.xml" Id="R186156ba7c8d4c8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59816cea70046b9" /><Relationship Type="http://schemas.openxmlformats.org/officeDocument/2006/relationships/notesSlide" Target="/ppt/notesSlides/notesSlide8.xml" Id="R975b99f4331c4c1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b6b1f4e8ec341b4" /><Relationship Type="http://schemas.openxmlformats.org/officeDocument/2006/relationships/notesSlide" Target="/ppt/notesSlides/notesSlide9.xml" Id="Reeb56a4912d74eea" /></Relationships>
</file>

<file path=ppt/slides/charts/chart1.xml><?xml version="1.0" encoding="utf-8"?>
<c:chartSpace xmlns:c="http://schemas.openxmlformats.org/drawingml/2006/chart">
  <c:lang val="en-US"/>
  <c:roundedCorners val="0"/>
  <c:chart>
    <c:plotArea>
      <c:layout/>
      <c:barChart>
        <c:barDir val="col"/>
        <c:varyColors val="0"/>
        <c:ser>
          <c:idx val="0"/>
          <c:order val="0"/>
          <c:tx>
            <c:v>Revenue</c:v>
          </c:tx>
          <c:cat>
            <c:strLit>
              <c:ptCount val="4"/>
              <c:pt idx="0">
                <c:v>Clothing</c:v>
              </c:pt>
              <c:pt idx="1">
                <c:v>Accessories</c:v>
              </c:pt>
              <c:pt idx="2">
                <c:v>Footwear</c:v>
              </c:pt>
              <c:pt idx="3">
                <c:v>Outerwear</c:v>
              </c:pt>
            </c:strLit>
          </c:cat>
          <c:val>
            <c:numLit>
              <c:formatCode/>
              <c:ptCount val="4"/>
              <c:pt idx="0">
                <c:v>104264</c:v>
              </c:pt>
              <c:pt idx="1">
                <c:v>74200</c:v>
              </c:pt>
              <c:pt idx="2">
                <c:v>36093</c:v>
              </c:pt>
              <c:pt idx="3">
                <c:v>18524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overlay val="0"/>
    </c:legend>
    <c:plotVisOnly val="1"/>
  </c:chart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039E6485-FFE8-4792-86F6-AAD4BE45E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</p:spPr>
      </p:sp>
      <p:sp>
        <p:nvSpPr>
          <p:cNvPr id="2" name="cover-gold-bar">
            <a:extLst xmlns:a="http://schemas.openxmlformats.org/drawingml/2006/main">
              <a:ext uri="{FF2B5EF4-FFF2-40B4-BE49-F238E27FC236}">
                <a16:creationId xmlns:a16="http://schemas.microsoft.com/office/drawing/2014/main" id="{D42824DF-DF73-40E7-BBBD-57DD5442C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209550" cy="891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F37"/>
          </a:solidFill>
        </p:spPr>
      </p:sp>
      <p:sp>
        <p:nvSpPr>
          <p:cNvPr id="3" name="cover-title-1">
            <a:extLst xmlns:a="http://schemas.openxmlformats.org/drawingml/2006/main">
              <a:ext uri="{FF2B5EF4-FFF2-40B4-BE49-F238E27FC236}">
                <a16:creationId xmlns:a16="http://schemas.microsoft.com/office/drawing/2014/main" id="{888B4017-F3A8-496C-BAF0-C0E4087AF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276600"/>
            <a:ext cx="805815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500" b="1">
                <a:solidFill>
                  <a:srgbClr val="F7F1DE"/>
                </a:solidFill>
              </a:defRPr>
            </a:pPr>
            <a:r>
              <a:rPr sz="7500" b="1">
                <a:solidFill>
                  <a:srgbClr val="F7F1DE"/>
                </a:solidFill>
              </a:rPr>
              <a:t>Customer Behaviour</a:t>
            </a:r>
          </a:p>
        </p:txBody>
      </p:sp>
      <p:sp>
        <p:nvSpPr>
          <p:cNvPr id="4" name="cover-title-2">
            <a:extLst xmlns:a="http://schemas.openxmlformats.org/drawingml/2006/main">
              <a:ext uri="{FF2B5EF4-FFF2-40B4-BE49-F238E27FC236}">
                <a16:creationId xmlns:a16="http://schemas.microsoft.com/office/drawing/2014/main" id="{39602881-D419-4793-A160-80E5B0E6A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648200"/>
            <a:ext cx="4267200" cy="15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900" b="1">
                <a:solidFill>
                  <a:srgbClr val="F5D477"/>
                </a:solidFill>
              </a:defRPr>
            </a:pPr>
            <a:r>
              <a:rPr sz="9900" b="1">
                <a:solidFill>
                  <a:srgbClr val="F5D477"/>
                </a:solidFill>
              </a:rPr>
              <a:t>Analysis</a:t>
            </a:r>
          </a:p>
        </p:txBody>
      </p:sp>
      <p:sp>
        <p:nvSpPr>
          <p:cNvPr id="5" name="cover-rule">
            <a:extLst xmlns:a="http://schemas.openxmlformats.org/drawingml/2006/main">
              <a:ext uri="{FF2B5EF4-FFF2-40B4-BE49-F238E27FC236}">
                <a16:creationId xmlns:a16="http://schemas.microsoft.com/office/drawing/2014/main" id="{9FF9F642-E462-49B8-91C7-F122E460C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6381750"/>
            <a:ext cx="533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F37"/>
          </a:solidFill>
          <a:ln xmlns:a="http://schemas.openxmlformats.org/drawingml/2006/main" w="0">
            <a:solidFill>
              <a:srgbClr val="D4AF37"/>
            </a:solidFill>
            <a:prstDash val="solid"/>
          </a:ln>
        </p:spPr>
      </p:sp>
      <p:sp>
        <p:nvSpPr>
          <p:cNvPr id="6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3BDBFB75-DBB6-4B93-AB67-0CCDB7E13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6667500"/>
            <a:ext cx="8496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B9AD8C"/>
                </a:solidFill>
              </a:defRPr>
            </a:pPr>
            <a:r>
              <a:rPr sz="2250">
                <a:solidFill>
                  <a:srgbClr val="B9AD8C"/>
                </a:solidFill>
              </a:rPr>
              <a:t>A premium project walkthrough across Python, PostgreSQL, and Power BI</a:t>
            </a:r>
          </a:p>
        </p:txBody>
      </p:sp>
      <p:sp>
        <p:nvSpPr>
          <p:cNvPr id="7" name="cover-records">
            <a:extLst xmlns:a="http://schemas.openxmlformats.org/drawingml/2006/main">
              <a:ext uri="{FF2B5EF4-FFF2-40B4-BE49-F238E27FC236}">
                <a16:creationId xmlns:a16="http://schemas.microsoft.com/office/drawing/2014/main" id="{7D92F604-0555-47FC-820F-604781999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200" y="8039100"/>
            <a:ext cx="47625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D4AF37"/>
                </a:solidFill>
              </a:defRPr>
            </a:pPr>
            <a:r>
              <a:rPr sz="5700" b="1">
                <a:solidFill>
                  <a:srgbClr val="D4AF37"/>
                </a:solidFill>
              </a:rPr>
              <a:t>3,900</a:t>
            </a:r>
          </a:p>
        </p:txBody>
      </p:sp>
      <p:sp>
        <p:nvSpPr>
          <p:cNvPr id="8" name="cover-records-label">
            <a:extLst xmlns:a="http://schemas.openxmlformats.org/drawingml/2006/main">
              <a:ext uri="{FF2B5EF4-FFF2-40B4-BE49-F238E27FC236}">
                <a16:creationId xmlns:a16="http://schemas.microsoft.com/office/drawing/2014/main" id="{C50F3F94-3B9E-4569-9A23-F2874647E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200" y="8972550"/>
            <a:ext cx="4762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F7F1DE"/>
                </a:solidFill>
              </a:defRPr>
            </a:pPr>
            <a:r>
              <a:rPr sz="1800">
                <a:solidFill>
                  <a:srgbClr val="F7F1DE"/>
                </a:solidFill>
              </a:rPr>
              <a:t>customer records</a:t>
            </a:r>
          </a:p>
        </p:txBody>
      </p:sp>
      <p:sp>
        <p:nvSpPr>
          <p:cNvPr id="9" name="cover-revenue">
            <a:extLst xmlns:a="http://schemas.openxmlformats.org/drawingml/2006/main">
              <a:ext uri="{FF2B5EF4-FFF2-40B4-BE49-F238E27FC236}">
                <a16:creationId xmlns:a16="http://schemas.microsoft.com/office/drawing/2014/main" id="{6CA41245-EE1D-4A01-8D37-A6CD4701F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200" y="9334500"/>
            <a:ext cx="4762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B9AD8C"/>
                </a:solidFill>
              </a:defRPr>
            </a:pPr>
            <a:r>
              <a:rPr sz="1650">
                <a:solidFill>
                  <a:srgbClr val="B9AD8C"/>
                </a:solidFill>
              </a:rPr>
              <a:t>$233K revenue analyzed</a:t>
            </a:r>
          </a:p>
        </p:txBody>
      </p:sp>
    </p:spTree>
    <p:extLst>
      <p:ext uri="{BB962C8B-B14F-4D97-AF65-F5344CB8AC3E}">
        <p14:creationId xmlns:p14="http://schemas.microsoft.com/office/powerpoint/2010/main" val="148659368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4DCAB396-EF41-4219-91B6-92353C6CA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</p:spPr>
      </p:sp>
      <p:sp>
        <p:nvSpPr>
          <p:cNvPr id="2" name="kicker-rule">
            <a:extLst xmlns:a="http://schemas.openxmlformats.org/drawingml/2006/main">
              <a:ext uri="{FF2B5EF4-FFF2-40B4-BE49-F238E27FC236}">
                <a16:creationId xmlns:a16="http://schemas.microsoft.com/office/drawing/2014/main" id="{796D802B-0A67-430B-856E-C90FFC041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4295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F37"/>
          </a:solidFill>
          <a:ln xmlns:a="http://schemas.openxmlformats.org/drawingml/2006/main" w="0">
            <a:solidFill>
              <a:srgbClr val="D4AF37"/>
            </a:solidFill>
            <a:prstDash val="solid"/>
          </a:ln>
        </p:spPr>
      </p:sp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0D47B1C8-A6BD-4CC8-B2DB-9523415E8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666750"/>
            <a:ext cx="3619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5D477"/>
                </a:solidFill>
              </a:defRPr>
            </a:pPr>
            <a:r>
              <a:rPr sz="1350" b="1">
                <a:solidFill>
                  <a:srgbClr val="F5D477"/>
                </a:solidFill>
              </a:rPr>
              <a:t>PROJECT ARC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59D7885-2467-4B98-9345-BACF83673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47750"/>
            <a:ext cx="107823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F7F1DE"/>
                </a:solidFill>
              </a:defRPr>
            </a:pPr>
            <a:r>
              <a:rPr sz="4200" b="1">
                <a:solidFill>
                  <a:srgbClr val="F7F1DE"/>
                </a:solidFill>
              </a:rPr>
              <a:t>From raw shopping records to business decisions</a:t>
            </a:r>
          </a:p>
        </p:txBody>
      </p:sp>
      <p:sp>
        <p:nvSpPr>
          <p:cNvPr id="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05E56FF-0C20-4BEA-B526-75B7851D7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47850"/>
            <a:ext cx="81534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B9AD8C"/>
                </a:solidFill>
              </a:defRPr>
            </a:pPr>
            <a:r>
              <a:rPr sz="1875">
                <a:solidFill>
                  <a:srgbClr val="B9AD8C"/>
                </a:solidFill>
              </a:rPr>
              <a:t>The project turns a CSV into an analysis-ready database and an executive dashboard.</a:t>
            </a:r>
          </a:p>
        </p:txBody>
      </p:sp>
      <p:sp>
        <p:nvSpPr>
          <p:cNvPr id="6" name="stage-1-no">
            <a:extLst xmlns:a="http://schemas.openxmlformats.org/drawingml/2006/main">
              <a:ext uri="{FF2B5EF4-FFF2-40B4-BE49-F238E27FC236}">
                <a16:creationId xmlns:a16="http://schemas.microsoft.com/office/drawing/2014/main" id="{CC40CB96-2612-4F59-ACB0-6F21BD7AC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19650"/>
            <a:ext cx="44196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D4AF37"/>
                </a:solidFill>
              </a:defRPr>
            </a:pPr>
            <a:r>
              <a:rPr sz="3150" b="1">
                <a:solidFill>
                  <a:srgbClr val="D4AF37"/>
                </a:solidFill>
              </a:rPr>
              <a:t>01</a:t>
            </a:r>
          </a:p>
        </p:txBody>
      </p:sp>
      <p:sp>
        <p:nvSpPr>
          <p:cNvPr id="7" name="stage-1-title">
            <a:extLst xmlns:a="http://schemas.openxmlformats.org/drawingml/2006/main">
              <a:ext uri="{FF2B5EF4-FFF2-40B4-BE49-F238E27FC236}">
                <a16:creationId xmlns:a16="http://schemas.microsoft.com/office/drawing/2014/main" id="{B032E155-23EC-4DC5-8247-619BC38A5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67350"/>
            <a:ext cx="44196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7F1DE"/>
                </a:solidFill>
              </a:defRPr>
            </a:pPr>
            <a:r>
              <a:rPr sz="3000" b="1">
                <a:solidFill>
                  <a:srgbClr val="F7F1DE"/>
                </a:solidFill>
              </a:rPr>
              <a:t>Python prepares</a:t>
            </a:r>
          </a:p>
        </p:txBody>
      </p:sp>
      <p:sp>
        <p:nvSpPr>
          <p:cNvPr id="8" name="stage-1-copy">
            <a:extLst xmlns:a="http://schemas.openxmlformats.org/drawingml/2006/main">
              <a:ext uri="{FF2B5EF4-FFF2-40B4-BE49-F238E27FC236}">
                <a16:creationId xmlns:a16="http://schemas.microsoft.com/office/drawing/2014/main" id="{6720C3CA-C22F-4E60-96E6-D39492C8F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96000"/>
            <a:ext cx="44196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B9AD8C"/>
                </a:solidFill>
              </a:defRPr>
            </a:pPr>
            <a:r>
              <a:rPr sz="1650">
                <a:solidFill>
                  <a:srgbClr val="B9AD8C"/>
                </a:solidFill>
              </a:rPr>
              <a:t>Load, profile, clean missing ratings, standardize fields, create age and frequency features.</a:t>
            </a:r>
          </a:p>
        </p:txBody>
      </p:sp>
      <p:sp>
        <p:nvSpPr>
          <p:cNvPr id="9" name="flow-arrow-1">
            <a:extLst xmlns:a="http://schemas.openxmlformats.org/drawingml/2006/main">
              <a:ext uri="{FF2B5EF4-FFF2-40B4-BE49-F238E27FC236}">
                <a16:creationId xmlns:a16="http://schemas.microsoft.com/office/drawing/2014/main" id="{7D3C41DA-4620-4E35-BFAB-594D0671C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295900"/>
            <a:ext cx="11430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D4AF37"/>
                </a:solidFill>
              </a:defRPr>
            </a:pPr>
            <a:r>
              <a:rPr sz="5400" b="1">
                <a:solidFill>
                  <a:srgbClr val="D4AF37"/>
                </a:solidFill>
              </a:rPr>
              <a:t>&gt;</a:t>
            </a:r>
          </a:p>
        </p:txBody>
      </p:sp>
      <p:sp>
        <p:nvSpPr>
          <p:cNvPr id="10" name="stage-2-no">
            <a:extLst xmlns:a="http://schemas.openxmlformats.org/drawingml/2006/main">
              <a:ext uri="{FF2B5EF4-FFF2-40B4-BE49-F238E27FC236}">
                <a16:creationId xmlns:a16="http://schemas.microsoft.com/office/drawing/2014/main" id="{C977A339-149A-424A-AED4-7B8E8377D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819650"/>
            <a:ext cx="44196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D4AF37"/>
                </a:solidFill>
              </a:defRPr>
            </a:pPr>
            <a:r>
              <a:rPr sz="3150" b="1">
                <a:solidFill>
                  <a:srgbClr val="D4AF37"/>
                </a:solidFill>
              </a:rPr>
              <a:t>02</a:t>
            </a:r>
          </a:p>
        </p:txBody>
      </p:sp>
      <p:sp>
        <p:nvSpPr>
          <p:cNvPr id="11" name="stage-2-title">
            <a:extLst xmlns:a="http://schemas.openxmlformats.org/drawingml/2006/main">
              <a:ext uri="{FF2B5EF4-FFF2-40B4-BE49-F238E27FC236}">
                <a16:creationId xmlns:a16="http://schemas.microsoft.com/office/drawing/2014/main" id="{13ED8FE2-724D-4B8E-9D54-57025A15E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467350"/>
            <a:ext cx="44196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7F1DE"/>
                </a:solidFill>
              </a:defRPr>
            </a:pPr>
            <a:r>
              <a:rPr sz="3000" b="1">
                <a:solidFill>
                  <a:srgbClr val="F7F1DE"/>
                </a:solidFill>
              </a:rPr>
              <a:t>SQL interrogates</a:t>
            </a:r>
          </a:p>
        </p:txBody>
      </p:sp>
      <p:sp>
        <p:nvSpPr>
          <p:cNvPr id="12" name="stage-2-copy">
            <a:extLst xmlns:a="http://schemas.openxmlformats.org/drawingml/2006/main">
              <a:ext uri="{FF2B5EF4-FFF2-40B4-BE49-F238E27FC236}">
                <a16:creationId xmlns:a16="http://schemas.microsoft.com/office/drawing/2014/main" id="{8A14AF84-B619-49D3-84FA-58CB0C652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6096000"/>
            <a:ext cx="44196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B9AD8C"/>
                </a:solidFill>
              </a:defRPr>
            </a:pPr>
            <a:r>
              <a:rPr sz="1650">
                <a:solidFill>
                  <a:srgbClr val="B9AD8C"/>
                </a:solidFill>
              </a:rPr>
              <a:t>Answer revenue, discount, subscription, product, segmentation, and age-group questions.</a:t>
            </a:r>
          </a:p>
        </p:txBody>
      </p:sp>
      <p:sp>
        <p:nvSpPr>
          <p:cNvPr id="13" name="flow-arrow-2">
            <a:extLst xmlns:a="http://schemas.openxmlformats.org/drawingml/2006/main">
              <a:ext uri="{FF2B5EF4-FFF2-40B4-BE49-F238E27FC236}">
                <a16:creationId xmlns:a16="http://schemas.microsoft.com/office/drawing/2014/main" id="{4A40572E-609A-4126-B996-8C026E560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5295900"/>
            <a:ext cx="11430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D4AF37"/>
                </a:solidFill>
              </a:defRPr>
            </a:pPr>
            <a:r>
              <a:rPr sz="5400" b="1">
                <a:solidFill>
                  <a:srgbClr val="D4AF37"/>
                </a:solidFill>
              </a:rPr>
              <a:t>&gt;</a:t>
            </a:r>
          </a:p>
        </p:txBody>
      </p:sp>
      <p:sp>
        <p:nvSpPr>
          <p:cNvPr id="14" name="stage-3-no">
            <a:extLst xmlns:a="http://schemas.openxmlformats.org/drawingml/2006/main">
              <a:ext uri="{FF2B5EF4-FFF2-40B4-BE49-F238E27FC236}">
                <a16:creationId xmlns:a16="http://schemas.microsoft.com/office/drawing/2014/main" id="{F5F467C8-D380-4248-A930-D109C301F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4819650"/>
            <a:ext cx="44196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D4AF37"/>
                </a:solidFill>
              </a:defRPr>
            </a:pPr>
            <a:r>
              <a:rPr sz="3150" b="1">
                <a:solidFill>
                  <a:srgbClr val="D4AF37"/>
                </a:solidFill>
              </a:rPr>
              <a:t>03</a:t>
            </a:r>
          </a:p>
        </p:txBody>
      </p:sp>
      <p:sp>
        <p:nvSpPr>
          <p:cNvPr id="15" name="stage-3-title">
            <a:extLst xmlns:a="http://schemas.openxmlformats.org/drawingml/2006/main">
              <a:ext uri="{FF2B5EF4-FFF2-40B4-BE49-F238E27FC236}">
                <a16:creationId xmlns:a16="http://schemas.microsoft.com/office/drawing/2014/main" id="{5F79BDFB-8C21-4DF3-840B-7608E7F99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5467350"/>
            <a:ext cx="44196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7F1DE"/>
                </a:solidFill>
              </a:defRPr>
            </a:pPr>
            <a:r>
              <a:rPr sz="3000" b="1">
                <a:solidFill>
                  <a:srgbClr val="F7F1DE"/>
                </a:solidFill>
              </a:rPr>
              <a:t>Power BI presents</a:t>
            </a:r>
          </a:p>
        </p:txBody>
      </p:sp>
      <p:sp>
        <p:nvSpPr>
          <p:cNvPr id="16" name="stage-3-copy">
            <a:extLst xmlns:a="http://schemas.openxmlformats.org/drawingml/2006/main">
              <a:ext uri="{FF2B5EF4-FFF2-40B4-BE49-F238E27FC236}">
                <a16:creationId xmlns:a16="http://schemas.microsoft.com/office/drawing/2014/main" id="{4B6A849F-85E4-4DCD-9EF0-2595DDDA4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6096000"/>
            <a:ext cx="44196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B9AD8C"/>
                </a:solidFill>
              </a:defRPr>
            </a:pPr>
            <a:r>
              <a:rPr sz="1650">
                <a:solidFill>
                  <a:srgbClr val="B9AD8C"/>
                </a:solidFill>
              </a:rPr>
              <a:t>KPI cards, slicers, category charts, subscription donut, and age-group views.</a:t>
            </a:r>
          </a:p>
        </p:txBody>
      </p:sp>
      <p:sp>
        <p:nvSpPr>
          <p:cNvPr id="17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57072017-BF17-476A-916C-E0DEE689F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277350"/>
            <a:ext cx="1676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756B4D"/>
                </a:solidFill>
              </a:defRPr>
            </a:pPr>
            <a:r>
              <a:rPr sz="1125">
                <a:solidFill>
                  <a:srgbClr val="756B4D"/>
                </a:solidFill>
              </a:rPr>
              <a:t>Customer Behaviour Analysis</a:t>
            </a:r>
          </a:p>
        </p:txBody>
      </p:sp>
      <p:sp>
        <p:nvSpPr>
          <p:cNvPr id="1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E3D3193B-4B29-4467-96B5-AC8C6AD91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21200" y="9277350"/>
            <a:ext cx="152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4AF37"/>
                </a:solidFill>
              </a:defRPr>
            </a:pPr>
            <a:r>
              <a:rPr sz="1125" b="1">
                <a:solidFill>
                  <a:srgbClr val="D4AF37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49454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F39A5564-D95E-4E22-9467-0D1119C8D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</p:spPr>
      </p:sp>
      <p:sp>
        <p:nvSpPr>
          <p:cNvPr id="2" name="kicker-rule">
            <a:extLst xmlns:a="http://schemas.openxmlformats.org/drawingml/2006/main">
              <a:ext uri="{FF2B5EF4-FFF2-40B4-BE49-F238E27FC236}">
                <a16:creationId xmlns:a16="http://schemas.microsoft.com/office/drawing/2014/main" id="{86E2F5C7-67C7-4728-8CD9-2766B80BB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4295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F37"/>
          </a:solidFill>
          <a:ln xmlns:a="http://schemas.openxmlformats.org/drawingml/2006/main" w="0">
            <a:solidFill>
              <a:srgbClr val="D4AF37"/>
            </a:solidFill>
            <a:prstDash val="solid"/>
          </a:ln>
        </p:spPr>
      </p:sp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F981FE13-9100-4EA9-ADCD-9B6C56D7D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666750"/>
            <a:ext cx="3619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5D477"/>
                </a:solidFill>
              </a:defRPr>
            </a:pPr>
            <a:r>
              <a:rPr sz="1350" b="1">
                <a:solidFill>
                  <a:srgbClr val="F5D477"/>
                </a:solidFill>
              </a:rPr>
              <a:t>DATA SNAPSHOT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F3454BC-DD0E-4C66-846F-535F6E32A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47750"/>
            <a:ext cx="134874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F7F1DE"/>
                </a:solidFill>
              </a:defRPr>
            </a:pPr>
            <a:r>
              <a:rPr sz="4200" b="1">
                <a:solidFill>
                  <a:srgbClr val="F7F1DE"/>
                </a:solidFill>
              </a:rPr>
              <a:t>The dataset is broad, balanced, and ready for business slicing</a:t>
            </a:r>
          </a:p>
        </p:txBody>
      </p:sp>
      <p:sp>
        <p:nvSpPr>
          <p:cNvPr id="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68A56E6-E7E1-487D-861D-E0EFA3B86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47850"/>
            <a:ext cx="11010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B9AD8C"/>
                </a:solidFill>
              </a:defRPr>
            </a:pPr>
            <a:r>
              <a:rPr sz="1875">
                <a:solidFill>
                  <a:srgbClr val="B9AD8C"/>
                </a:solidFill>
              </a:rPr>
              <a:t>3,900 records across demographics, product choice, purchase value, rating, shipping, payment, and loyalty history.</a:t>
            </a:r>
          </a:p>
        </p:txBody>
      </p:sp>
      <p:sp>
        <p:nvSpPr>
          <p:cNvPr id="6" name="metric-value-Customers">
            <a:extLst xmlns:a="http://schemas.openxmlformats.org/drawingml/2006/main">
              <a:ext uri="{FF2B5EF4-FFF2-40B4-BE49-F238E27FC236}">
                <a16:creationId xmlns:a16="http://schemas.microsoft.com/office/drawing/2014/main" id="{69164E9C-9779-48E2-AA49-B53E446E3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76500"/>
            <a:ext cx="6858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F5D477"/>
                </a:solidFill>
              </a:defRPr>
            </a:pPr>
            <a:r>
              <a:rPr sz="4200" b="1">
                <a:solidFill>
                  <a:srgbClr val="F5D477"/>
                </a:solidFill>
              </a:rPr>
              <a:t>3,900</a:t>
            </a:r>
          </a:p>
        </p:txBody>
      </p:sp>
      <p:sp>
        <p:nvSpPr>
          <p:cNvPr id="7" name="metric-label-Customers">
            <a:extLst xmlns:a="http://schemas.openxmlformats.org/drawingml/2006/main">
              <a:ext uri="{FF2B5EF4-FFF2-40B4-BE49-F238E27FC236}">
                <a16:creationId xmlns:a16="http://schemas.microsoft.com/office/drawing/2014/main" id="{9E5CE3C7-8EE4-4D7A-A187-C96EBCE88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62300"/>
            <a:ext cx="6858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7F1DE"/>
                </a:solidFill>
              </a:defRPr>
            </a:pPr>
            <a:r>
              <a:rPr sz="1650" b="1">
                <a:solidFill>
                  <a:srgbClr val="F7F1DE"/>
                </a:solidFill>
              </a:rPr>
              <a:t>Customers</a:t>
            </a:r>
          </a:p>
        </p:txBody>
      </p:sp>
      <p:sp>
        <p:nvSpPr>
          <p:cNvPr id="8" name="metric-note-Customers">
            <a:extLst xmlns:a="http://schemas.openxmlformats.org/drawingml/2006/main">
              <a:ext uri="{FF2B5EF4-FFF2-40B4-BE49-F238E27FC236}">
                <a16:creationId xmlns:a16="http://schemas.microsoft.com/office/drawing/2014/main" id="{77C10D9D-420B-4396-B00E-E0D51B4C7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48050"/>
            <a:ext cx="685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B9AD8C"/>
                </a:solidFill>
              </a:defRPr>
            </a:pPr>
            <a:r>
              <a:rPr sz="1200">
                <a:solidFill>
                  <a:srgbClr val="B9AD8C"/>
                </a:solidFill>
              </a:rPr>
              <a:t>retail shopping records</a:t>
            </a:r>
          </a:p>
        </p:txBody>
      </p:sp>
      <p:sp>
        <p:nvSpPr>
          <p:cNvPr id="9" name="metric-value-Revenue">
            <a:extLst xmlns:a="http://schemas.openxmlformats.org/drawingml/2006/main">
              <a:ext uri="{FF2B5EF4-FFF2-40B4-BE49-F238E27FC236}">
                <a16:creationId xmlns:a16="http://schemas.microsoft.com/office/drawing/2014/main" id="{AED596A3-2E5D-4955-A3F6-48646FD68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24300"/>
            <a:ext cx="6858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F5D477"/>
                </a:solidFill>
              </a:defRPr>
            </a:pPr>
            <a:r>
              <a:rPr sz="4200" b="1">
                <a:solidFill>
                  <a:srgbClr val="F5D477"/>
                </a:solidFill>
              </a:rPr>
              <a:t>$233,081</a:t>
            </a:r>
          </a:p>
        </p:txBody>
      </p:sp>
      <p:sp>
        <p:nvSpPr>
          <p:cNvPr id="10" name="metric-label-Revenue">
            <a:extLst xmlns:a="http://schemas.openxmlformats.org/drawingml/2006/main">
              <a:ext uri="{FF2B5EF4-FFF2-40B4-BE49-F238E27FC236}">
                <a16:creationId xmlns:a16="http://schemas.microsoft.com/office/drawing/2014/main" id="{3D90CF4E-70B6-4FCF-BBCB-5EC47BB30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91050"/>
            <a:ext cx="6858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7F1DE"/>
                </a:solidFill>
              </a:defRPr>
            </a:pPr>
            <a:r>
              <a:rPr sz="1650" b="1">
                <a:solidFill>
                  <a:srgbClr val="F7F1DE"/>
                </a:solidFill>
              </a:rPr>
              <a:t>Revenue</a:t>
            </a:r>
          </a:p>
        </p:txBody>
      </p:sp>
      <p:sp>
        <p:nvSpPr>
          <p:cNvPr id="11" name="metric-note-Revenue">
            <a:extLst xmlns:a="http://schemas.openxmlformats.org/drawingml/2006/main">
              <a:ext uri="{FF2B5EF4-FFF2-40B4-BE49-F238E27FC236}">
                <a16:creationId xmlns:a16="http://schemas.microsoft.com/office/drawing/2014/main" id="{67FDC030-F90B-4850-82EB-4C98D7C98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5850"/>
            <a:ext cx="685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B9AD8C"/>
                </a:solidFill>
              </a:defRPr>
            </a:pPr>
            <a:r>
              <a:rPr sz="1200">
                <a:solidFill>
                  <a:srgbClr val="B9AD8C"/>
                </a:solidFill>
              </a:rPr>
              <a:t>total purchase amount</a:t>
            </a:r>
          </a:p>
        </p:txBody>
      </p:sp>
      <p:sp>
        <p:nvSpPr>
          <p:cNvPr id="12" name="metric-value-Average purchase">
            <a:extLst xmlns:a="http://schemas.openxmlformats.org/drawingml/2006/main">
              <a:ext uri="{FF2B5EF4-FFF2-40B4-BE49-F238E27FC236}">
                <a16:creationId xmlns:a16="http://schemas.microsoft.com/office/drawing/2014/main" id="{6BE60419-9997-4ADD-9D7C-A0CFE3986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53050"/>
            <a:ext cx="6858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F5D477"/>
                </a:solidFill>
              </a:defRPr>
            </a:pPr>
            <a:r>
              <a:rPr sz="4200" b="1">
                <a:solidFill>
                  <a:srgbClr val="F5D477"/>
                </a:solidFill>
              </a:rPr>
              <a:t>$59.76</a:t>
            </a:r>
          </a:p>
        </p:txBody>
      </p:sp>
      <p:sp>
        <p:nvSpPr>
          <p:cNvPr id="13" name="metric-label-Average purchase">
            <a:extLst xmlns:a="http://schemas.openxmlformats.org/drawingml/2006/main">
              <a:ext uri="{FF2B5EF4-FFF2-40B4-BE49-F238E27FC236}">
                <a16:creationId xmlns:a16="http://schemas.microsoft.com/office/drawing/2014/main" id="{7DB070C2-BA78-4A17-BC5A-D4CE1F38D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38850"/>
            <a:ext cx="6858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7F1DE"/>
                </a:solidFill>
              </a:defRPr>
            </a:pPr>
            <a:r>
              <a:rPr sz="1650" b="1">
                <a:solidFill>
                  <a:srgbClr val="F7F1DE"/>
                </a:solidFill>
              </a:rPr>
              <a:t>Average purchase</a:t>
            </a:r>
          </a:p>
        </p:txBody>
      </p:sp>
      <p:sp>
        <p:nvSpPr>
          <p:cNvPr id="14" name="metric-note-Average purchase">
            <a:extLst xmlns:a="http://schemas.openxmlformats.org/drawingml/2006/main">
              <a:ext uri="{FF2B5EF4-FFF2-40B4-BE49-F238E27FC236}">
                <a16:creationId xmlns:a16="http://schemas.microsoft.com/office/drawing/2014/main" id="{726F2F68-BC2B-4025-BD43-5B7C46F34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324600"/>
            <a:ext cx="685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B9AD8C"/>
                </a:solidFill>
              </a:defRPr>
            </a:pPr>
            <a:r>
              <a:rPr sz="1200">
                <a:solidFill>
                  <a:srgbClr val="B9AD8C"/>
                </a:solidFill>
              </a:rPr>
              <a:t>stable across key segments</a:t>
            </a:r>
          </a:p>
        </p:txBody>
      </p:sp>
      <p:sp>
        <p:nvSpPr>
          <p:cNvPr id="15" name="chart-title">
            <a:extLst xmlns:a="http://schemas.openxmlformats.org/drawingml/2006/main">
              <a:ext uri="{FF2B5EF4-FFF2-40B4-BE49-F238E27FC236}">
                <a16:creationId xmlns:a16="http://schemas.microsoft.com/office/drawing/2014/main" id="{EB3A3CA6-E940-4B90-A05E-B17CCBCE6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76500"/>
            <a:ext cx="90868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7F1DE"/>
                </a:solidFill>
              </a:defRPr>
            </a:pPr>
            <a:r>
              <a:rPr sz="2400" b="1">
                <a:solidFill>
                  <a:srgbClr val="F7F1DE"/>
                </a:solidFill>
              </a:rPr>
              <a:t>Revenue by category</a:t>
            </a:r>
          </a:p>
        </p:txBody>
      </p:sp>
      <p:graphicFrame>
        <p:nvGraphicFramePr>
          <p:cNvPr id="16" name="category-revenue-chart"/>
          <p:cNvGraphicFramePr/>
          <p:nvPr/>
        </p:nvGraphicFramePr>
        <p:xfrm>
          <a:off xmlns:a="http://schemas.openxmlformats.org/drawingml/2006/main" x="8285035" y="3040380"/>
          <a:ext xmlns:a="http://schemas.openxmlformats.org/drawingml/2006/main" cx="9088565" cy="589407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b53d5d8b8214a13"/>
          </a:graphicData>
        </a:graphic>
      </p:graphicFrame>
      <p:sp>
        <p:nvSpPr>
          <p:cNvPr id="17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C38AE038-04A6-4239-9F70-F79F0EBDC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277350"/>
            <a:ext cx="1676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756B4D"/>
                </a:solidFill>
              </a:defRPr>
            </a:pPr>
            <a:r>
              <a:rPr sz="1125">
                <a:solidFill>
                  <a:srgbClr val="756B4D"/>
                </a:solidFill>
              </a:rPr>
              <a:t>Customer Behaviour Analysis</a:t>
            </a:r>
          </a:p>
        </p:txBody>
      </p:sp>
      <p:sp>
        <p:nvSpPr>
          <p:cNvPr id="1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CEC1440F-792E-490D-844D-18894406D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21200" y="9277350"/>
            <a:ext cx="152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4AF37"/>
                </a:solidFill>
              </a:defRPr>
            </a:pPr>
            <a:r>
              <a:rPr sz="1125" b="1">
                <a:solidFill>
                  <a:srgbClr val="D4AF37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61708927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FF302F5C-DABD-4A5C-B5A6-3AE659B06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</p:spPr>
      </p:sp>
      <p:sp>
        <p:nvSpPr>
          <p:cNvPr id="2" name="kicker-rule">
            <a:extLst xmlns:a="http://schemas.openxmlformats.org/drawingml/2006/main">
              <a:ext uri="{FF2B5EF4-FFF2-40B4-BE49-F238E27FC236}">
                <a16:creationId xmlns:a16="http://schemas.microsoft.com/office/drawing/2014/main" id="{AE63F24B-78C1-4EB6-A03E-7F1D35243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8580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F37"/>
          </a:solidFill>
          <a:ln xmlns:a="http://schemas.openxmlformats.org/drawingml/2006/main" w="0">
            <a:solidFill>
              <a:srgbClr val="D4AF37"/>
            </a:solidFill>
            <a:prstDash val="solid"/>
          </a:ln>
        </p:spPr>
      </p:sp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F7347958-5934-4BB0-909C-E7A07114C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09600"/>
            <a:ext cx="3619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5D477"/>
                </a:solidFill>
              </a:defRPr>
            </a:pPr>
            <a:r>
              <a:rPr sz="1350" b="1">
                <a:solidFill>
                  <a:srgbClr val="F5D477"/>
                </a:solidFill>
              </a:rPr>
              <a:t>PYTHON WORKFLOW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864005B-C3B0-427C-B14B-D3CF59852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90600"/>
            <a:ext cx="130873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F7F1DE"/>
                </a:solidFill>
              </a:defRPr>
            </a:pPr>
            <a:r>
              <a:rPr sz="4200" b="1">
                <a:solidFill>
                  <a:srgbClr val="F7F1DE"/>
                </a:solidFill>
              </a:rPr>
              <a:t>Python turns messy source data into analysis infrastructure</a:t>
            </a:r>
          </a:p>
        </p:txBody>
      </p:sp>
      <p:sp>
        <p:nvSpPr>
          <p:cNvPr id="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1A8B9443-79B3-47E4-99F1-5FC790424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90700"/>
            <a:ext cx="73342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B9AD8C"/>
                </a:solidFill>
              </a:defRPr>
            </a:pPr>
            <a:r>
              <a:rPr sz="1875">
                <a:solidFill>
                  <a:srgbClr val="B9AD8C"/>
                </a:solidFill>
              </a:rPr>
              <a:t>The notebook handles quality, naming, derived fields, and database loading.</a:t>
            </a:r>
          </a:p>
        </p:txBody>
      </p:sp>
      <p:sp>
        <p:nvSpPr>
          <p:cNvPr id="6" name="insight-number-01">
            <a:extLst xmlns:a="http://schemas.openxmlformats.org/drawingml/2006/main">
              <a:ext uri="{FF2B5EF4-FFF2-40B4-BE49-F238E27FC236}">
                <a16:creationId xmlns:a16="http://schemas.microsoft.com/office/drawing/2014/main" id="{BF3AA0C1-9A00-4F3F-8A92-4D5393496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09850"/>
            <a:ext cx="5524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D4AF37"/>
                </a:solidFill>
              </a:defRPr>
            </a:pPr>
            <a:r>
              <a:rPr sz="2400" b="1">
                <a:solidFill>
                  <a:srgbClr val="D4AF37"/>
                </a:solidFill>
              </a:rPr>
              <a:t>01</a:t>
            </a:r>
          </a:p>
        </p:txBody>
      </p:sp>
      <p:sp>
        <p:nvSpPr>
          <p:cNvPr id="7" name="insight-headline-01">
            <a:extLst xmlns:a="http://schemas.openxmlformats.org/drawingml/2006/main">
              <a:ext uri="{FF2B5EF4-FFF2-40B4-BE49-F238E27FC236}">
                <a16:creationId xmlns:a16="http://schemas.microsoft.com/office/drawing/2014/main" id="{949A01F8-5E61-40DB-BB65-408BD4AC8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609850"/>
            <a:ext cx="58864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1DE"/>
                </a:solidFill>
              </a:defRPr>
            </a:pPr>
            <a:r>
              <a:rPr sz="2250" b="1">
                <a:solidFill>
                  <a:srgbClr val="F7F1DE"/>
                </a:solidFill>
              </a:rPr>
              <a:t>Missing ratings repaired</a:t>
            </a:r>
          </a:p>
        </p:txBody>
      </p:sp>
      <p:sp>
        <p:nvSpPr>
          <p:cNvPr id="8" name="insight-detail-01">
            <a:extLst xmlns:a="http://schemas.openxmlformats.org/drawingml/2006/main">
              <a:ext uri="{FF2B5EF4-FFF2-40B4-BE49-F238E27FC236}">
                <a16:creationId xmlns:a16="http://schemas.microsoft.com/office/drawing/2014/main" id="{9A954155-1807-42EE-ADAA-772DD856A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009900"/>
            <a:ext cx="5886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B9AD8C"/>
                </a:solidFill>
              </a:defRPr>
            </a:pPr>
            <a:r>
              <a:rPr sz="1425">
                <a:solidFill>
                  <a:srgbClr val="B9AD8C"/>
                </a:solidFill>
              </a:rPr>
              <a:t>37 blank review ratings are filled using category medians.</a:t>
            </a:r>
          </a:p>
        </p:txBody>
      </p:sp>
      <p:sp>
        <p:nvSpPr>
          <p:cNvPr id="9" name="insight-number-02">
            <a:extLst xmlns:a="http://schemas.openxmlformats.org/drawingml/2006/main">
              <a:ext uri="{FF2B5EF4-FFF2-40B4-BE49-F238E27FC236}">
                <a16:creationId xmlns:a16="http://schemas.microsoft.com/office/drawing/2014/main" id="{110FAFC9-5FFB-4619-A3A9-A6FF84B6C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67100"/>
            <a:ext cx="5524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D4AF37"/>
                </a:solidFill>
              </a:defRPr>
            </a:pPr>
            <a:r>
              <a:rPr sz="2400" b="1">
                <a:solidFill>
                  <a:srgbClr val="D4AF37"/>
                </a:solidFill>
              </a:rPr>
              <a:t>02</a:t>
            </a:r>
          </a:p>
        </p:txBody>
      </p:sp>
      <p:sp>
        <p:nvSpPr>
          <p:cNvPr id="10" name="insight-headline-02">
            <a:extLst xmlns:a="http://schemas.openxmlformats.org/drawingml/2006/main">
              <a:ext uri="{FF2B5EF4-FFF2-40B4-BE49-F238E27FC236}">
                <a16:creationId xmlns:a16="http://schemas.microsoft.com/office/drawing/2014/main" id="{B9CFDC37-D913-4CD6-8C1D-96AA58B32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467100"/>
            <a:ext cx="58864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1DE"/>
                </a:solidFill>
              </a:defRPr>
            </a:pPr>
            <a:r>
              <a:rPr sz="2250" b="1">
                <a:solidFill>
                  <a:srgbClr val="F7F1DE"/>
                </a:solidFill>
              </a:rPr>
              <a:t>Fields standardized</a:t>
            </a:r>
          </a:p>
        </p:txBody>
      </p:sp>
      <p:sp>
        <p:nvSpPr>
          <p:cNvPr id="11" name="insight-detail-02">
            <a:extLst xmlns:a="http://schemas.openxmlformats.org/drawingml/2006/main">
              <a:ext uri="{FF2B5EF4-FFF2-40B4-BE49-F238E27FC236}">
                <a16:creationId xmlns:a16="http://schemas.microsoft.com/office/drawing/2014/main" id="{8E99720A-DDF4-44DA-89AF-283C10AF0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867150"/>
            <a:ext cx="5886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B9AD8C"/>
                </a:solidFill>
              </a:defRPr>
            </a:pPr>
            <a:r>
              <a:rPr sz="1425">
                <a:solidFill>
                  <a:srgbClr val="B9AD8C"/>
                </a:solidFill>
              </a:rPr>
              <a:t>Column names become SQL-safe and easier to reuse.</a:t>
            </a:r>
          </a:p>
        </p:txBody>
      </p:sp>
      <p:sp>
        <p:nvSpPr>
          <p:cNvPr id="12" name="insight-number-03">
            <a:extLst xmlns:a="http://schemas.openxmlformats.org/drawingml/2006/main">
              <a:ext uri="{FF2B5EF4-FFF2-40B4-BE49-F238E27FC236}">
                <a16:creationId xmlns:a16="http://schemas.microsoft.com/office/drawing/2014/main" id="{7630ED00-1C17-41E5-975A-679CEA049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05300"/>
            <a:ext cx="5524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D4AF37"/>
                </a:solidFill>
              </a:defRPr>
            </a:pPr>
            <a:r>
              <a:rPr sz="2400" b="1">
                <a:solidFill>
                  <a:srgbClr val="D4AF37"/>
                </a:solidFill>
              </a:rPr>
              <a:t>03</a:t>
            </a:r>
          </a:p>
        </p:txBody>
      </p:sp>
      <p:sp>
        <p:nvSpPr>
          <p:cNvPr id="13" name="insight-headline-03">
            <a:extLst xmlns:a="http://schemas.openxmlformats.org/drawingml/2006/main">
              <a:ext uri="{FF2B5EF4-FFF2-40B4-BE49-F238E27FC236}">
                <a16:creationId xmlns:a16="http://schemas.microsoft.com/office/drawing/2014/main" id="{5E864319-D1DF-4C62-AC3F-ACE18E24C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305300"/>
            <a:ext cx="58864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1DE"/>
                </a:solidFill>
              </a:defRPr>
            </a:pPr>
            <a:r>
              <a:rPr sz="2250" b="1">
                <a:solidFill>
                  <a:srgbClr val="F7F1DE"/>
                </a:solidFill>
              </a:rPr>
              <a:t>Features engineered</a:t>
            </a:r>
          </a:p>
        </p:txBody>
      </p:sp>
      <p:sp>
        <p:nvSpPr>
          <p:cNvPr id="14" name="insight-detail-03">
            <a:extLst xmlns:a="http://schemas.openxmlformats.org/drawingml/2006/main">
              <a:ext uri="{FF2B5EF4-FFF2-40B4-BE49-F238E27FC236}">
                <a16:creationId xmlns:a16="http://schemas.microsoft.com/office/drawing/2014/main" id="{A3893619-1A9A-4FFF-A049-7697348BD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705350"/>
            <a:ext cx="5886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B9AD8C"/>
                </a:solidFill>
              </a:defRPr>
            </a:pPr>
            <a:r>
              <a:rPr sz="1425">
                <a:solidFill>
                  <a:srgbClr val="B9AD8C"/>
                </a:solidFill>
              </a:rPr>
              <a:t>Age groups and purchase-frequency intervals support segmentation.</a:t>
            </a:r>
          </a:p>
        </p:txBody>
      </p:sp>
      <p:sp>
        <p:nvSpPr>
          <p:cNvPr id="15" name="insight-number-04">
            <a:extLst xmlns:a="http://schemas.openxmlformats.org/drawingml/2006/main">
              <a:ext uri="{FF2B5EF4-FFF2-40B4-BE49-F238E27FC236}">
                <a16:creationId xmlns:a16="http://schemas.microsoft.com/office/drawing/2014/main" id="{9D8F355D-DB41-4652-82EF-C8B17435E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62550"/>
            <a:ext cx="5524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D4AF37"/>
                </a:solidFill>
              </a:defRPr>
            </a:pPr>
            <a:r>
              <a:rPr sz="2400" b="1">
                <a:solidFill>
                  <a:srgbClr val="D4AF37"/>
                </a:solidFill>
              </a:rPr>
              <a:t>04</a:t>
            </a:r>
          </a:p>
        </p:txBody>
      </p:sp>
      <p:sp>
        <p:nvSpPr>
          <p:cNvPr id="16" name="insight-headline-04">
            <a:extLst xmlns:a="http://schemas.openxmlformats.org/drawingml/2006/main">
              <a:ext uri="{FF2B5EF4-FFF2-40B4-BE49-F238E27FC236}">
                <a16:creationId xmlns:a16="http://schemas.microsoft.com/office/drawing/2014/main" id="{BD30C1B7-6C4A-4DD8-AFA0-FD242CB60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162550"/>
            <a:ext cx="58864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1DE"/>
                </a:solidFill>
              </a:defRPr>
            </a:pPr>
            <a:r>
              <a:rPr sz="2250" b="1">
                <a:solidFill>
                  <a:srgbClr val="F7F1DE"/>
                </a:solidFill>
              </a:rPr>
              <a:t>PostgreSQL loaded</a:t>
            </a:r>
          </a:p>
        </p:txBody>
      </p:sp>
      <p:sp>
        <p:nvSpPr>
          <p:cNvPr id="17" name="insight-detail-04">
            <a:extLst xmlns:a="http://schemas.openxmlformats.org/drawingml/2006/main">
              <a:ext uri="{FF2B5EF4-FFF2-40B4-BE49-F238E27FC236}">
                <a16:creationId xmlns:a16="http://schemas.microsoft.com/office/drawing/2014/main" id="{6FAFF40D-49EF-424E-B612-4FC7D1AFB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562600"/>
            <a:ext cx="5886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B9AD8C"/>
                </a:solidFill>
              </a:defRPr>
            </a:pPr>
            <a:r>
              <a:rPr sz="1425">
                <a:solidFill>
                  <a:srgbClr val="B9AD8C"/>
                </a:solidFill>
              </a:rPr>
              <a:t>The cleaned table becomes the base for repeatable SQL analysis.</a:t>
            </a:r>
          </a:p>
        </p:txBody>
      </p:sp>
      <p:sp>
        <p:nvSpPr>
          <p:cNvPr id="18" name="python-screenshot-frame">
            <a:extLst xmlns:a="http://schemas.openxmlformats.org/drawingml/2006/main">
              <a:ext uri="{FF2B5EF4-FFF2-40B4-BE49-F238E27FC236}">
                <a16:creationId xmlns:a16="http://schemas.microsoft.com/office/drawing/2014/main" id="{176115E2-943D-4010-AF12-E117B1164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9367" y="2617470"/>
            <a:ext cx="9598533" cy="6469380"/>
          </a:xfrm>
          <a:prstGeom xmlns:a="http://schemas.openxmlformats.org/drawingml/2006/main" prst="roundRect">
            <a:avLst>
              <a:gd name="adj" fmla="val 589"/>
            </a:avLst>
          </a:prstGeom>
          <a:solidFill xmlns:a="http://schemas.openxmlformats.org/drawingml/2006/main">
            <a:srgbClr val="0B0A08"/>
          </a:solidFill>
        </p:spPr>
      </p:sp>
      <p:pic>
        <p:nvPicPr>
          <p:cNvPr id="19" name="python-screenshot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fdb68850bd402a"/>
          <a:stretch xmlns:a="http://schemas.openxmlformats.org/drawingml/2006/main"/>
        </p:blipFill>
        <p:spPr>
          <a:xfrm xmlns:a="http://schemas.openxmlformats.org/drawingml/2006/main">
            <a:off x="8648843" y="2731770"/>
            <a:ext cx="8079581" cy="6240780"/>
          </a:xfrm>
          <a:prstGeom xmlns:a="http://schemas.openxmlformats.org/drawingml/2006/main" prst="rect">
            <a:avLst/>
          </a:prstGeom>
        </p:spPr>
      </p:pic>
      <p:sp>
        <p:nvSpPr>
          <p:cNvPr id="20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34CF40ED-4FD2-48CE-B2E9-902DB02B6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334500"/>
            <a:ext cx="1676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756B4D"/>
                </a:solidFill>
              </a:defRPr>
            </a:pPr>
            <a:r>
              <a:rPr sz="1125">
                <a:solidFill>
                  <a:srgbClr val="756B4D"/>
                </a:solidFill>
              </a:rPr>
              <a:t>Customer Behaviour Analysis</a:t>
            </a:r>
          </a:p>
        </p:txBody>
      </p:sp>
      <p:sp>
        <p:nvSpPr>
          <p:cNvPr id="21" name="footer-page">
            <a:extLst xmlns:a="http://schemas.openxmlformats.org/drawingml/2006/main">
              <a:ext uri="{FF2B5EF4-FFF2-40B4-BE49-F238E27FC236}">
                <a16:creationId xmlns:a16="http://schemas.microsoft.com/office/drawing/2014/main" id="{82C0967C-D3E5-4EF3-A413-39018D65B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0" y="9334500"/>
            <a:ext cx="152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4AF37"/>
                </a:solidFill>
              </a:defRPr>
            </a:pPr>
            <a:r>
              <a:rPr sz="1125" b="1">
                <a:solidFill>
                  <a:srgbClr val="D4AF37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04440722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B43F0A1A-283A-46DA-8921-5F64EE015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</p:spPr>
      </p:sp>
      <p:sp>
        <p:nvSpPr>
          <p:cNvPr id="2" name="kicker-rule">
            <a:extLst xmlns:a="http://schemas.openxmlformats.org/drawingml/2006/main">
              <a:ext uri="{FF2B5EF4-FFF2-40B4-BE49-F238E27FC236}">
                <a16:creationId xmlns:a16="http://schemas.microsoft.com/office/drawing/2014/main" id="{C1A18ED7-80EC-4370-BC06-5AB3C7B31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8580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F37"/>
          </a:solidFill>
          <a:ln xmlns:a="http://schemas.openxmlformats.org/drawingml/2006/main" w="0">
            <a:solidFill>
              <a:srgbClr val="D4AF37"/>
            </a:solidFill>
            <a:prstDash val="solid"/>
          </a:ln>
        </p:spPr>
      </p:sp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2C86D87F-9CFE-40DA-B433-FC1B284C9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09600"/>
            <a:ext cx="3619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5D477"/>
                </a:solidFill>
              </a:defRPr>
            </a:pPr>
            <a:r>
              <a:rPr sz="1350" b="1">
                <a:solidFill>
                  <a:srgbClr val="F5D477"/>
                </a:solidFill>
              </a:rPr>
              <a:t>POSTGRESQL ANALYSIS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BD03805-D99D-4EB8-BE85-18C0FB88C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90600"/>
            <a:ext cx="85153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F7F1DE"/>
                </a:solidFill>
              </a:defRPr>
            </a:pPr>
            <a:r>
              <a:rPr sz="4200" b="1">
                <a:solidFill>
                  <a:srgbClr val="F7F1DE"/>
                </a:solidFill>
              </a:rPr>
              <a:t>SQL turns data into business questions</a:t>
            </a:r>
          </a:p>
        </p:txBody>
      </p:sp>
      <p:sp>
        <p:nvSpPr>
          <p:cNvPr id="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E77E31A2-95FD-48B9-8AD8-2030FD3D4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90700"/>
            <a:ext cx="7467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B9AD8C"/>
                </a:solidFill>
              </a:defRPr>
            </a:pPr>
            <a:r>
              <a:rPr sz="1875">
                <a:solidFill>
                  <a:srgbClr val="B9AD8C"/>
                </a:solidFill>
              </a:rPr>
              <a:t>Each query is framed around a decision area, not just a technical aggregation.</a:t>
            </a:r>
          </a:p>
        </p:txBody>
      </p:sp>
      <p:sp>
        <p:nvSpPr>
          <p:cNvPr id="6" name="sql-screenshot-frame">
            <a:extLst xmlns:a="http://schemas.openxmlformats.org/drawingml/2006/main">
              <a:ext uri="{FF2B5EF4-FFF2-40B4-BE49-F238E27FC236}">
                <a16:creationId xmlns:a16="http://schemas.microsoft.com/office/drawing/2014/main" id="{B0A105D9-9073-4303-BB6F-71780AF75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31720"/>
            <a:ext cx="8795385" cy="6755130"/>
          </a:xfrm>
          <a:prstGeom xmlns:a="http://schemas.openxmlformats.org/drawingml/2006/main" prst="roundRect">
            <a:avLst>
              <a:gd name="adj" fmla="val 564"/>
            </a:avLst>
          </a:prstGeom>
          <a:solidFill xmlns:a="http://schemas.openxmlformats.org/drawingml/2006/main">
            <a:srgbClr val="0B0A08"/>
          </a:solidFill>
        </p:spPr>
      </p:sp>
      <p:pic>
        <p:nvPicPr>
          <p:cNvPr id="7" name="sql-screenshot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610d0a3ab54474"/>
          <a:stretch xmlns:a="http://schemas.openxmlformats.org/drawingml/2006/main"/>
        </p:blipFill>
        <p:spPr>
          <a:xfrm xmlns:a="http://schemas.openxmlformats.org/drawingml/2006/main">
            <a:off x="1381878" y="2446020"/>
            <a:ext cx="7631829" cy="6526530"/>
          </a:xfrm>
          <a:prstGeom xmlns:a="http://schemas.openxmlformats.org/drawingml/2006/main" prst="rect">
            <a:avLst/>
          </a:prstGeom>
        </p:spPr>
      </p:pic>
      <p:sp>
        <p:nvSpPr>
          <p:cNvPr id="8" name="insight-number-Q1">
            <a:extLst xmlns:a="http://schemas.openxmlformats.org/drawingml/2006/main">
              <a:ext uri="{FF2B5EF4-FFF2-40B4-BE49-F238E27FC236}">
                <a16:creationId xmlns:a16="http://schemas.microsoft.com/office/drawing/2014/main" id="{6C620B20-D4F1-4948-89A4-9A4155C14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324100"/>
            <a:ext cx="5524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D4AF37"/>
                </a:solidFill>
              </a:defRPr>
            </a:pPr>
            <a:r>
              <a:rPr sz="2400" b="1">
                <a:solidFill>
                  <a:srgbClr val="D4AF37"/>
                </a:solidFill>
              </a:rPr>
              <a:t>Q1</a:t>
            </a:r>
          </a:p>
        </p:txBody>
      </p:sp>
      <p:sp>
        <p:nvSpPr>
          <p:cNvPr id="9" name="insight-headline-Q1">
            <a:extLst xmlns:a="http://schemas.openxmlformats.org/drawingml/2006/main">
              <a:ext uri="{FF2B5EF4-FFF2-40B4-BE49-F238E27FC236}">
                <a16:creationId xmlns:a16="http://schemas.microsoft.com/office/drawing/2014/main" id="{4B951A28-16AA-4057-A5DB-33855B24B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324100"/>
            <a:ext cx="67056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1DE"/>
                </a:solidFill>
              </a:defRPr>
            </a:pPr>
            <a:r>
              <a:rPr sz="2250" b="1">
                <a:solidFill>
                  <a:srgbClr val="F7F1DE"/>
                </a:solidFill>
              </a:rPr>
              <a:t>Revenue split</a:t>
            </a:r>
          </a:p>
        </p:txBody>
      </p:sp>
      <p:sp>
        <p:nvSpPr>
          <p:cNvPr id="10" name="insight-detail-Q1">
            <a:extLst xmlns:a="http://schemas.openxmlformats.org/drawingml/2006/main">
              <a:ext uri="{FF2B5EF4-FFF2-40B4-BE49-F238E27FC236}">
                <a16:creationId xmlns:a16="http://schemas.microsoft.com/office/drawing/2014/main" id="{635B0A08-667A-40D7-838C-58C036286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724150"/>
            <a:ext cx="6705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B9AD8C"/>
                </a:solidFill>
              </a:defRPr>
            </a:pPr>
            <a:r>
              <a:rPr sz="1425">
                <a:solidFill>
                  <a:srgbClr val="B9AD8C"/>
                </a:solidFill>
              </a:rPr>
              <a:t>Gender and subscription comparisons reveal value distribution.</a:t>
            </a:r>
          </a:p>
        </p:txBody>
      </p:sp>
      <p:sp>
        <p:nvSpPr>
          <p:cNvPr id="11" name="insight-number-Q3">
            <a:extLst xmlns:a="http://schemas.openxmlformats.org/drawingml/2006/main">
              <a:ext uri="{FF2B5EF4-FFF2-40B4-BE49-F238E27FC236}">
                <a16:creationId xmlns:a16="http://schemas.microsoft.com/office/drawing/2014/main" id="{4145B34F-0DE6-4E1F-826C-7FCC98ACA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181350"/>
            <a:ext cx="5524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D4AF37"/>
                </a:solidFill>
              </a:defRPr>
            </a:pPr>
            <a:r>
              <a:rPr sz="2400" b="1">
                <a:solidFill>
                  <a:srgbClr val="D4AF37"/>
                </a:solidFill>
              </a:rPr>
              <a:t>Q3</a:t>
            </a:r>
          </a:p>
        </p:txBody>
      </p:sp>
      <p:sp>
        <p:nvSpPr>
          <p:cNvPr id="12" name="insight-headline-Q3">
            <a:extLst xmlns:a="http://schemas.openxmlformats.org/drawingml/2006/main">
              <a:ext uri="{FF2B5EF4-FFF2-40B4-BE49-F238E27FC236}">
                <a16:creationId xmlns:a16="http://schemas.microsoft.com/office/drawing/2014/main" id="{32F98A74-3F51-44C5-9E27-3C4B25144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3181350"/>
            <a:ext cx="67056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1DE"/>
                </a:solidFill>
              </a:defRPr>
            </a:pPr>
            <a:r>
              <a:rPr sz="2250" b="1">
                <a:solidFill>
                  <a:srgbClr val="F7F1DE"/>
                </a:solidFill>
              </a:rPr>
              <a:t>Product quality</a:t>
            </a:r>
          </a:p>
        </p:txBody>
      </p:sp>
      <p:sp>
        <p:nvSpPr>
          <p:cNvPr id="13" name="insight-detail-Q3">
            <a:extLst xmlns:a="http://schemas.openxmlformats.org/drawingml/2006/main">
              <a:ext uri="{FF2B5EF4-FFF2-40B4-BE49-F238E27FC236}">
                <a16:creationId xmlns:a16="http://schemas.microsoft.com/office/drawing/2014/main" id="{1A736219-2A51-4378-8355-B1EE8E9A8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3581400"/>
            <a:ext cx="6705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B9AD8C"/>
                </a:solidFill>
              </a:defRPr>
            </a:pPr>
            <a:r>
              <a:rPr sz="1425">
                <a:solidFill>
                  <a:srgbClr val="B9AD8C"/>
                </a:solidFill>
              </a:rPr>
              <a:t>Average rating highlights products with stronger customer feedback.</a:t>
            </a:r>
          </a:p>
        </p:txBody>
      </p:sp>
      <p:sp>
        <p:nvSpPr>
          <p:cNvPr id="14" name="insight-number-Q6">
            <a:extLst xmlns:a="http://schemas.openxmlformats.org/drawingml/2006/main">
              <a:ext uri="{FF2B5EF4-FFF2-40B4-BE49-F238E27FC236}">
                <a16:creationId xmlns:a16="http://schemas.microsoft.com/office/drawing/2014/main" id="{E7263C43-2884-4501-B8E5-C2DC0D2FF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019550"/>
            <a:ext cx="5524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D4AF37"/>
                </a:solidFill>
              </a:defRPr>
            </a:pPr>
            <a:r>
              <a:rPr sz="2400" b="1">
                <a:solidFill>
                  <a:srgbClr val="D4AF37"/>
                </a:solidFill>
              </a:rPr>
              <a:t>Q6</a:t>
            </a:r>
          </a:p>
        </p:txBody>
      </p:sp>
      <p:sp>
        <p:nvSpPr>
          <p:cNvPr id="15" name="insight-headline-Q6">
            <a:extLst xmlns:a="http://schemas.openxmlformats.org/drawingml/2006/main">
              <a:ext uri="{FF2B5EF4-FFF2-40B4-BE49-F238E27FC236}">
                <a16:creationId xmlns:a16="http://schemas.microsoft.com/office/drawing/2014/main" id="{F91BFFFE-9722-41FF-84C4-1DB8873B6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019550"/>
            <a:ext cx="67056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1DE"/>
                </a:solidFill>
              </a:defRPr>
            </a:pPr>
            <a:r>
              <a:rPr sz="2250" b="1">
                <a:solidFill>
                  <a:srgbClr val="F7F1DE"/>
                </a:solidFill>
              </a:rPr>
              <a:t>Discount pressure</a:t>
            </a:r>
          </a:p>
        </p:txBody>
      </p:sp>
      <p:sp>
        <p:nvSpPr>
          <p:cNvPr id="16" name="insight-detail-Q6">
            <a:extLst xmlns:a="http://schemas.openxmlformats.org/drawingml/2006/main">
              <a:ext uri="{FF2B5EF4-FFF2-40B4-BE49-F238E27FC236}">
                <a16:creationId xmlns:a16="http://schemas.microsoft.com/office/drawing/2014/main" id="{655B1BEC-BED3-4E01-89E1-433E096E2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419600"/>
            <a:ext cx="6705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B9AD8C"/>
                </a:solidFill>
              </a:defRPr>
            </a:pPr>
            <a:r>
              <a:rPr sz="1425">
                <a:solidFill>
                  <a:srgbClr val="B9AD8C"/>
                </a:solidFill>
              </a:rPr>
              <a:t>Discount rates identify products that rely most on price incentives.</a:t>
            </a:r>
          </a:p>
        </p:txBody>
      </p:sp>
      <p:sp>
        <p:nvSpPr>
          <p:cNvPr id="17" name="insight-number-Q7">
            <a:extLst xmlns:a="http://schemas.openxmlformats.org/drawingml/2006/main">
              <a:ext uri="{FF2B5EF4-FFF2-40B4-BE49-F238E27FC236}">
                <a16:creationId xmlns:a16="http://schemas.microsoft.com/office/drawing/2014/main" id="{E04F9D00-09BE-4B5D-B984-35E151212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876800"/>
            <a:ext cx="5524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D4AF37"/>
                </a:solidFill>
              </a:defRPr>
            </a:pPr>
            <a:r>
              <a:rPr sz="2400" b="1">
                <a:solidFill>
                  <a:srgbClr val="D4AF37"/>
                </a:solidFill>
              </a:rPr>
              <a:t>Q7</a:t>
            </a:r>
          </a:p>
        </p:txBody>
      </p:sp>
      <p:sp>
        <p:nvSpPr>
          <p:cNvPr id="18" name="insight-headline-Q7">
            <a:extLst xmlns:a="http://schemas.openxmlformats.org/drawingml/2006/main">
              <a:ext uri="{FF2B5EF4-FFF2-40B4-BE49-F238E27FC236}">
                <a16:creationId xmlns:a16="http://schemas.microsoft.com/office/drawing/2014/main" id="{3B00FB69-797D-4AB5-9217-085B19C39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876800"/>
            <a:ext cx="67056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1DE"/>
                </a:solidFill>
              </a:defRPr>
            </a:pPr>
            <a:r>
              <a:rPr sz="2250" b="1">
                <a:solidFill>
                  <a:srgbClr val="F7F1DE"/>
                </a:solidFill>
              </a:rPr>
              <a:t>Customer loyalty</a:t>
            </a:r>
          </a:p>
        </p:txBody>
      </p:sp>
      <p:sp>
        <p:nvSpPr>
          <p:cNvPr id="19" name="insight-detail-Q7">
            <a:extLst xmlns:a="http://schemas.openxmlformats.org/drawingml/2006/main">
              <a:ext uri="{FF2B5EF4-FFF2-40B4-BE49-F238E27FC236}">
                <a16:creationId xmlns:a16="http://schemas.microsoft.com/office/drawing/2014/main" id="{8B80CBAB-E119-4F46-9E96-C1CCD53A4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5276850"/>
            <a:ext cx="6705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B9AD8C"/>
                </a:solidFill>
              </a:defRPr>
            </a:pPr>
            <a:r>
              <a:rPr sz="1425">
                <a:solidFill>
                  <a:srgbClr val="B9AD8C"/>
                </a:solidFill>
              </a:rPr>
              <a:t>New, Returning, and Loyal segments expose retention depth.</a:t>
            </a:r>
          </a:p>
        </p:txBody>
      </p:sp>
      <p:sp>
        <p:nvSpPr>
          <p:cNvPr id="20" name="insight-number-Q10">
            <a:extLst xmlns:a="http://schemas.openxmlformats.org/drawingml/2006/main">
              <a:ext uri="{FF2B5EF4-FFF2-40B4-BE49-F238E27FC236}">
                <a16:creationId xmlns:a16="http://schemas.microsoft.com/office/drawing/2014/main" id="{B6A39D21-FD79-4D7E-BEDF-B40C9C470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715000"/>
            <a:ext cx="5524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D4AF37"/>
                </a:solidFill>
              </a:defRPr>
            </a:pPr>
            <a:r>
              <a:rPr sz="2400" b="1">
                <a:solidFill>
                  <a:srgbClr val="D4AF37"/>
                </a:solidFill>
              </a:rPr>
              <a:t>Q10</a:t>
            </a:r>
          </a:p>
        </p:txBody>
      </p:sp>
      <p:sp>
        <p:nvSpPr>
          <p:cNvPr id="21" name="insight-headline-Q10">
            <a:extLst xmlns:a="http://schemas.openxmlformats.org/drawingml/2006/main">
              <a:ext uri="{FF2B5EF4-FFF2-40B4-BE49-F238E27FC236}">
                <a16:creationId xmlns:a16="http://schemas.microsoft.com/office/drawing/2014/main" id="{603F84C4-624A-4741-9AD2-278386DB8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5715000"/>
            <a:ext cx="67056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1DE"/>
                </a:solidFill>
              </a:defRPr>
            </a:pPr>
            <a:r>
              <a:rPr sz="2250" b="1">
                <a:solidFill>
                  <a:srgbClr val="F7F1DE"/>
                </a:solidFill>
              </a:rPr>
              <a:t>Age contribution</a:t>
            </a:r>
          </a:p>
        </p:txBody>
      </p:sp>
      <p:sp>
        <p:nvSpPr>
          <p:cNvPr id="22" name="insight-detail-Q10">
            <a:extLst xmlns:a="http://schemas.openxmlformats.org/drawingml/2006/main">
              <a:ext uri="{FF2B5EF4-FFF2-40B4-BE49-F238E27FC236}">
                <a16:creationId xmlns:a16="http://schemas.microsoft.com/office/drawing/2014/main" id="{739F9E0E-B15F-4D86-A980-2B0C850E8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15050"/>
            <a:ext cx="6705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B9AD8C"/>
                </a:solidFill>
              </a:defRPr>
            </a:pPr>
            <a:r>
              <a:rPr sz="1425">
                <a:solidFill>
                  <a:srgbClr val="B9AD8C"/>
                </a:solidFill>
              </a:rPr>
              <a:t>Age groups show how revenue is distributed across the customer base.</a:t>
            </a:r>
          </a:p>
        </p:txBody>
      </p:sp>
      <p:sp>
        <p:nvSpPr>
          <p:cNvPr id="23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CE07A7B8-2DCB-45C6-919B-2D669502A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334500"/>
            <a:ext cx="1676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756B4D"/>
                </a:solidFill>
              </a:defRPr>
            </a:pPr>
            <a:r>
              <a:rPr sz="1125">
                <a:solidFill>
                  <a:srgbClr val="756B4D"/>
                </a:solidFill>
              </a:rPr>
              <a:t>Customer Behaviour Analysis</a:t>
            </a:r>
          </a:p>
        </p:txBody>
      </p:sp>
      <p:sp>
        <p:nvSpPr>
          <p:cNvPr id="2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ED60222E-41E4-4D95-B77D-3CA00031E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0" y="9334500"/>
            <a:ext cx="152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4AF37"/>
                </a:solidFill>
              </a:defRPr>
            </a:pPr>
            <a:r>
              <a:rPr sz="1125" b="1">
                <a:solidFill>
                  <a:srgbClr val="D4AF37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16967582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A55920B2-894E-41E1-BA51-A05B2C71C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</p:spPr>
      </p:sp>
      <p:sp>
        <p:nvSpPr>
          <p:cNvPr id="2" name="kicker-rule">
            <a:extLst xmlns:a="http://schemas.openxmlformats.org/drawingml/2006/main">
              <a:ext uri="{FF2B5EF4-FFF2-40B4-BE49-F238E27FC236}">
                <a16:creationId xmlns:a16="http://schemas.microsoft.com/office/drawing/2014/main" id="{2706217D-F702-44E3-ADA2-4B0B84388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4770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F37"/>
          </a:solidFill>
          <a:ln xmlns:a="http://schemas.openxmlformats.org/drawingml/2006/main" w="0">
            <a:solidFill>
              <a:srgbClr val="D4AF37"/>
            </a:solidFill>
            <a:prstDash val="solid"/>
          </a:ln>
        </p:spPr>
      </p:sp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AE129B0A-9E94-4C95-8AD1-08F1D67C9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71500"/>
            <a:ext cx="3619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5D477"/>
                </a:solidFill>
              </a:defRPr>
            </a:pPr>
            <a:r>
              <a:rPr sz="1350" b="1">
                <a:solidFill>
                  <a:srgbClr val="F5D477"/>
                </a:solidFill>
              </a:rPr>
              <a:t>DASHBOARD LAYER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0C9D114-52BB-4091-BDC1-894C80F3F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52500"/>
            <a:ext cx="10934700" cy="1295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F7F1DE"/>
                </a:solidFill>
              </a:defRPr>
            </a:pPr>
            <a:r>
              <a:rPr sz="4200" b="1">
                <a:solidFill>
                  <a:srgbClr val="F7F1DE"/>
                </a:solidFill>
              </a:rPr>
              <a:t>Power BI converts analysis into an operating view</a:t>
            </a:r>
          </a:p>
        </p:txBody>
      </p:sp>
      <p:sp>
        <p:nvSpPr>
          <p:cNvPr id="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492BEC08-14A1-410F-B2CC-7E941B402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7848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B9AD8C"/>
                </a:solidFill>
              </a:defRPr>
            </a:pPr>
            <a:r>
              <a:rPr sz="1875">
                <a:solidFill>
                  <a:srgbClr val="B9AD8C"/>
                </a:solidFill>
              </a:rPr>
              <a:t>One page, 18 visuals, four slicer families, and a clear KPI layer for fast exploration.</a:t>
            </a:r>
          </a:p>
        </p:txBody>
      </p:sp>
      <p:sp>
        <p:nvSpPr>
          <p:cNvPr id="6" name="dashboard-screenshot-frame">
            <a:extLst xmlns:a="http://schemas.openxmlformats.org/drawingml/2006/main">
              <a:ext uri="{FF2B5EF4-FFF2-40B4-BE49-F238E27FC236}">
                <a16:creationId xmlns:a16="http://schemas.microsoft.com/office/drawing/2014/main" id="{CD4A358F-4EE5-44F2-9FAF-1044C0704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14650"/>
            <a:ext cx="16725900" cy="6229350"/>
          </a:xfrm>
          <a:prstGeom xmlns:a="http://schemas.openxmlformats.org/drawingml/2006/main" prst="roundRect">
            <a:avLst>
              <a:gd name="adj" fmla="val 612"/>
            </a:avLst>
          </a:prstGeom>
          <a:solidFill xmlns:a="http://schemas.openxmlformats.org/drawingml/2006/main">
            <a:srgbClr val="0B0A08"/>
          </a:solidFill>
        </p:spPr>
      </p:sp>
      <p:pic>
        <p:nvPicPr>
          <p:cNvPr id="7" name="dashboard-screenshot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cc4eb3f4404a35"/>
          <a:stretch xmlns:a="http://schemas.openxmlformats.org/drawingml/2006/main"/>
        </p:blipFill>
        <p:spPr>
          <a:xfrm xmlns:a="http://schemas.openxmlformats.org/drawingml/2006/main">
            <a:off x="3518297" y="3028950"/>
            <a:ext cx="11251406" cy="6000750"/>
          </a:xfrm>
          <a:prstGeom xmlns:a="http://schemas.openxmlformats.org/drawingml/2006/main" prst="rect">
            <a:avLst/>
          </a:prstGeom>
        </p:spPr>
      </p:pic>
      <p:sp>
        <p:nvSpPr>
          <p:cNvPr id="8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24B6067D-6429-450F-8EA6-9D2B06350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372600"/>
            <a:ext cx="1676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756B4D"/>
                </a:solidFill>
              </a:defRPr>
            </a:pPr>
            <a:r>
              <a:rPr sz="1125">
                <a:solidFill>
                  <a:srgbClr val="756B4D"/>
                </a:solidFill>
              </a:rPr>
              <a:t>Customer Behaviour Analysis</a:t>
            </a:r>
          </a:p>
        </p:txBody>
      </p:sp>
      <p:sp>
        <p:nvSpPr>
          <p:cNvPr id="9" name="footer-page">
            <a:extLst xmlns:a="http://schemas.openxmlformats.org/drawingml/2006/main">
              <a:ext uri="{FF2B5EF4-FFF2-40B4-BE49-F238E27FC236}">
                <a16:creationId xmlns:a16="http://schemas.microsoft.com/office/drawing/2014/main" id="{1D07D02A-0FAB-4641-A13E-5D567A61D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54550" y="9372600"/>
            <a:ext cx="152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4AF37"/>
                </a:solidFill>
              </a:defRPr>
            </a:pPr>
            <a:r>
              <a:rPr sz="1125" b="1">
                <a:solidFill>
                  <a:srgbClr val="D4AF37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68062123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2A226BCA-5378-4134-A1C9-0E81C20BF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</p:spPr>
      </p:sp>
      <p:sp>
        <p:nvSpPr>
          <p:cNvPr id="2" name="kicker-rule">
            <a:extLst xmlns:a="http://schemas.openxmlformats.org/drawingml/2006/main">
              <a:ext uri="{FF2B5EF4-FFF2-40B4-BE49-F238E27FC236}">
                <a16:creationId xmlns:a16="http://schemas.microsoft.com/office/drawing/2014/main" id="{58F3AAA6-6799-4D51-8887-183CBA100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4295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F37"/>
          </a:solidFill>
          <a:ln xmlns:a="http://schemas.openxmlformats.org/drawingml/2006/main" w="0">
            <a:solidFill>
              <a:srgbClr val="D4AF37"/>
            </a:solidFill>
            <a:prstDash val="solid"/>
          </a:ln>
        </p:spPr>
      </p:sp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29C18B53-2FE2-4C40-ACAB-3BC85B4D1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666750"/>
            <a:ext cx="3619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5D477"/>
                </a:solidFill>
              </a:defRPr>
            </a:pPr>
            <a:r>
              <a:rPr sz="1350" b="1">
                <a:solidFill>
                  <a:srgbClr val="F5D477"/>
                </a:solidFill>
              </a:rPr>
              <a:t>KEY FINDINGS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9B8F6B9-1715-40B0-853A-4778D7802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47750"/>
            <a:ext cx="11563350" cy="1295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F7F1DE"/>
                </a:solidFill>
              </a:defRPr>
            </a:pPr>
            <a:r>
              <a:rPr sz="4200" b="1">
                <a:solidFill>
                  <a:srgbClr val="F7F1DE"/>
                </a:solidFill>
              </a:rPr>
              <a:t>The main story is stability with category-led revenue</a:t>
            </a:r>
          </a:p>
        </p:txBody>
      </p:sp>
      <p:sp>
        <p:nvSpPr>
          <p:cNvPr id="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ED43C083-EEC0-41D7-BDDA-2C8177177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95550"/>
            <a:ext cx="120777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B9AD8C"/>
                </a:solidFill>
              </a:defRPr>
            </a:pPr>
            <a:r>
              <a:rPr sz="1875">
                <a:solidFill>
                  <a:srgbClr val="B9AD8C"/>
                </a:solidFill>
              </a:rPr>
              <a:t>Average spend is tightly clustered, so growth depends more on conversion, repeat activation, and merchandising than on one obvious high-spend segment.</a:t>
            </a:r>
          </a:p>
        </p:txBody>
      </p:sp>
      <p:sp>
        <p:nvSpPr>
          <p:cNvPr id="6" name="insight-number-01">
            <a:extLst xmlns:a="http://schemas.openxmlformats.org/drawingml/2006/main">
              <a:ext uri="{FF2B5EF4-FFF2-40B4-BE49-F238E27FC236}">
                <a16:creationId xmlns:a16="http://schemas.microsoft.com/office/drawing/2014/main" id="{3F6BF07F-20DF-4BB8-A8E4-0C77D2EB0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71850"/>
            <a:ext cx="5524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D4AF37"/>
                </a:solidFill>
              </a:defRPr>
            </a:pPr>
            <a:r>
              <a:rPr sz="2400" b="1">
                <a:solidFill>
                  <a:srgbClr val="D4AF37"/>
                </a:solidFill>
              </a:rPr>
              <a:t>01</a:t>
            </a:r>
          </a:p>
        </p:txBody>
      </p:sp>
      <p:sp>
        <p:nvSpPr>
          <p:cNvPr id="7" name="insight-headline-01">
            <a:extLst xmlns:a="http://schemas.openxmlformats.org/drawingml/2006/main">
              <a:ext uri="{FF2B5EF4-FFF2-40B4-BE49-F238E27FC236}">
                <a16:creationId xmlns:a16="http://schemas.microsoft.com/office/drawing/2014/main" id="{394F7D4A-04AE-4CB0-BDA7-B2F7BC868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371850"/>
            <a:ext cx="67818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1DE"/>
                </a:solidFill>
              </a:defRPr>
            </a:pPr>
            <a:r>
              <a:rPr sz="2250" b="1">
                <a:solidFill>
                  <a:srgbClr val="F7F1DE"/>
                </a:solidFill>
              </a:rPr>
              <a:t>Clothing leads revenue</a:t>
            </a:r>
          </a:p>
        </p:txBody>
      </p:sp>
      <p:sp>
        <p:nvSpPr>
          <p:cNvPr id="8" name="insight-detail-01">
            <a:extLst xmlns:a="http://schemas.openxmlformats.org/drawingml/2006/main">
              <a:ext uri="{FF2B5EF4-FFF2-40B4-BE49-F238E27FC236}">
                <a16:creationId xmlns:a16="http://schemas.microsoft.com/office/drawing/2014/main" id="{57CA43C5-F2D1-4DB9-808F-1837A5F9E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771900"/>
            <a:ext cx="6781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B9AD8C"/>
                </a:solidFill>
              </a:defRPr>
            </a:pPr>
            <a:r>
              <a:rPr sz="1425">
                <a:solidFill>
                  <a:srgbClr val="B9AD8C"/>
                </a:solidFill>
              </a:rPr>
              <a:t>Clothing contributes $104,264; Accessories follows with $74,200.</a:t>
            </a:r>
          </a:p>
        </p:txBody>
      </p:sp>
      <p:sp>
        <p:nvSpPr>
          <p:cNvPr id="9" name="insight-number-02">
            <a:extLst xmlns:a="http://schemas.openxmlformats.org/drawingml/2006/main">
              <a:ext uri="{FF2B5EF4-FFF2-40B4-BE49-F238E27FC236}">
                <a16:creationId xmlns:a16="http://schemas.microsoft.com/office/drawing/2014/main" id="{1F986EA4-D478-4719-8D1B-AD85C5B0B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29100"/>
            <a:ext cx="5524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D4AF37"/>
                </a:solidFill>
              </a:defRPr>
            </a:pPr>
            <a:r>
              <a:rPr sz="2400" b="1">
                <a:solidFill>
                  <a:srgbClr val="D4AF37"/>
                </a:solidFill>
              </a:rPr>
              <a:t>02</a:t>
            </a:r>
          </a:p>
        </p:txBody>
      </p:sp>
      <p:sp>
        <p:nvSpPr>
          <p:cNvPr id="10" name="insight-headline-02">
            <a:extLst xmlns:a="http://schemas.openxmlformats.org/drawingml/2006/main">
              <a:ext uri="{FF2B5EF4-FFF2-40B4-BE49-F238E27FC236}">
                <a16:creationId xmlns:a16="http://schemas.microsoft.com/office/drawing/2014/main" id="{383413B7-C802-42A1-ADA8-4B59CC54E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229100"/>
            <a:ext cx="67818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1DE"/>
                </a:solidFill>
              </a:defRPr>
            </a:pPr>
            <a:r>
              <a:rPr sz="2250" b="1">
                <a:solidFill>
                  <a:srgbClr val="F7F1DE"/>
                </a:solidFill>
              </a:rPr>
              <a:t>Fall is the strongest season</a:t>
            </a:r>
          </a:p>
        </p:txBody>
      </p:sp>
      <p:sp>
        <p:nvSpPr>
          <p:cNvPr id="11" name="insight-detail-02">
            <a:extLst xmlns:a="http://schemas.openxmlformats.org/drawingml/2006/main">
              <a:ext uri="{FF2B5EF4-FFF2-40B4-BE49-F238E27FC236}">
                <a16:creationId xmlns:a16="http://schemas.microsoft.com/office/drawing/2014/main" id="{73AA8364-B8C0-4EF7-9095-B86224C60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629150"/>
            <a:ext cx="6781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B9AD8C"/>
                </a:solidFill>
              </a:defRPr>
            </a:pPr>
            <a:r>
              <a:rPr sz="1425">
                <a:solidFill>
                  <a:srgbClr val="B9AD8C"/>
                </a:solidFill>
              </a:rPr>
              <a:t>Fall revenue reaches $60,018 with the highest average purchase at $61.56.</a:t>
            </a:r>
          </a:p>
        </p:txBody>
      </p:sp>
      <p:sp>
        <p:nvSpPr>
          <p:cNvPr id="12" name="insight-number-03">
            <a:extLst xmlns:a="http://schemas.openxmlformats.org/drawingml/2006/main">
              <a:ext uri="{FF2B5EF4-FFF2-40B4-BE49-F238E27FC236}">
                <a16:creationId xmlns:a16="http://schemas.microsoft.com/office/drawing/2014/main" id="{567F6CCA-4723-4050-9A6A-2169C21C6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05400"/>
            <a:ext cx="5524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D4AF37"/>
                </a:solidFill>
              </a:defRPr>
            </a:pPr>
            <a:r>
              <a:rPr sz="2400" b="1">
                <a:solidFill>
                  <a:srgbClr val="D4AF37"/>
                </a:solidFill>
              </a:rPr>
              <a:t>03</a:t>
            </a:r>
          </a:p>
        </p:txBody>
      </p:sp>
      <p:sp>
        <p:nvSpPr>
          <p:cNvPr id="13" name="insight-headline-03">
            <a:extLst xmlns:a="http://schemas.openxmlformats.org/drawingml/2006/main">
              <a:ext uri="{FF2B5EF4-FFF2-40B4-BE49-F238E27FC236}">
                <a16:creationId xmlns:a16="http://schemas.microsoft.com/office/drawing/2014/main" id="{880C6E7D-8223-4D2F-A2C2-20155DB5C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105400"/>
            <a:ext cx="67818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1DE"/>
                </a:solidFill>
              </a:defRPr>
            </a:pPr>
            <a:r>
              <a:rPr sz="2250" b="1">
                <a:solidFill>
                  <a:srgbClr val="F7F1DE"/>
                </a:solidFill>
              </a:rPr>
              <a:t>Subscription needs a sharper value promise</a:t>
            </a:r>
          </a:p>
        </p:txBody>
      </p:sp>
      <p:sp>
        <p:nvSpPr>
          <p:cNvPr id="14" name="insight-detail-03">
            <a:extLst xmlns:a="http://schemas.openxmlformats.org/drawingml/2006/main">
              <a:ext uri="{FF2B5EF4-FFF2-40B4-BE49-F238E27FC236}">
                <a16:creationId xmlns:a16="http://schemas.microsoft.com/office/drawing/2014/main" id="{4A067B1E-D1C4-498F-B090-8D96DA574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505450"/>
            <a:ext cx="6781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B9AD8C"/>
                </a:solidFill>
              </a:defRPr>
            </a:pPr>
            <a:r>
              <a:rPr sz="1425">
                <a:solidFill>
                  <a:srgbClr val="B9AD8C"/>
                </a:solidFill>
              </a:rPr>
              <a:t>Subscribers average $59.49 vs $59.87 for non-subscribers.</a:t>
            </a:r>
          </a:p>
        </p:txBody>
      </p:sp>
      <p:sp>
        <p:nvSpPr>
          <p:cNvPr id="15" name="insight-number-04">
            <a:extLst xmlns:a="http://schemas.openxmlformats.org/drawingml/2006/main">
              <a:ext uri="{FF2B5EF4-FFF2-40B4-BE49-F238E27FC236}">
                <a16:creationId xmlns:a16="http://schemas.microsoft.com/office/drawing/2014/main" id="{75426913-0128-4025-A213-CAE985BD4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62650"/>
            <a:ext cx="5524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D4AF37"/>
                </a:solidFill>
              </a:defRPr>
            </a:pPr>
            <a:r>
              <a:rPr sz="2400" b="1">
                <a:solidFill>
                  <a:srgbClr val="D4AF37"/>
                </a:solidFill>
              </a:rPr>
              <a:t>04</a:t>
            </a:r>
          </a:p>
        </p:txBody>
      </p:sp>
      <p:sp>
        <p:nvSpPr>
          <p:cNvPr id="16" name="insight-headline-04">
            <a:extLst xmlns:a="http://schemas.openxmlformats.org/drawingml/2006/main">
              <a:ext uri="{FF2B5EF4-FFF2-40B4-BE49-F238E27FC236}">
                <a16:creationId xmlns:a16="http://schemas.microsoft.com/office/drawing/2014/main" id="{D0270335-6E2D-4449-99A2-33A43B743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962650"/>
            <a:ext cx="67818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1DE"/>
                </a:solidFill>
              </a:defRPr>
            </a:pPr>
            <a:r>
              <a:rPr sz="2250" b="1">
                <a:solidFill>
                  <a:srgbClr val="F7F1DE"/>
                </a:solidFill>
              </a:rPr>
              <a:t>Discounts are not lifting spend</a:t>
            </a:r>
          </a:p>
        </p:txBody>
      </p:sp>
      <p:sp>
        <p:nvSpPr>
          <p:cNvPr id="17" name="insight-detail-04">
            <a:extLst xmlns:a="http://schemas.openxmlformats.org/drawingml/2006/main">
              <a:ext uri="{FF2B5EF4-FFF2-40B4-BE49-F238E27FC236}">
                <a16:creationId xmlns:a16="http://schemas.microsoft.com/office/drawing/2014/main" id="{82F6B273-84A3-4F80-BC2B-92CF3505F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6362700"/>
            <a:ext cx="6781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B9AD8C"/>
                </a:solidFill>
              </a:defRPr>
            </a:pPr>
            <a:r>
              <a:rPr sz="1425">
                <a:solidFill>
                  <a:srgbClr val="B9AD8C"/>
                </a:solidFill>
              </a:rPr>
              <a:t>Discounted purchases average $59.28 vs $60.13 without discounts.</a:t>
            </a:r>
          </a:p>
        </p:txBody>
      </p:sp>
      <p:sp>
        <p:nvSpPr>
          <p:cNvPr id="18" name="metric-value-Loyal customers">
            <a:extLst xmlns:a="http://schemas.openxmlformats.org/drawingml/2006/main">
              <a:ext uri="{FF2B5EF4-FFF2-40B4-BE49-F238E27FC236}">
                <a16:creationId xmlns:a16="http://schemas.microsoft.com/office/drawing/2014/main" id="{3CE4770B-9B52-42B8-9B8C-3D7CD637B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371850"/>
            <a:ext cx="8343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F5D477"/>
                </a:solidFill>
              </a:defRPr>
            </a:pPr>
            <a:r>
              <a:rPr sz="4200" b="1">
                <a:solidFill>
                  <a:srgbClr val="F5D477"/>
                </a:solidFill>
              </a:rPr>
              <a:t>3,116</a:t>
            </a:r>
          </a:p>
        </p:txBody>
      </p:sp>
      <p:sp>
        <p:nvSpPr>
          <p:cNvPr id="19" name="metric-label-Loyal customers">
            <a:extLst xmlns:a="http://schemas.openxmlformats.org/drawingml/2006/main">
              <a:ext uri="{FF2B5EF4-FFF2-40B4-BE49-F238E27FC236}">
                <a16:creationId xmlns:a16="http://schemas.microsoft.com/office/drawing/2014/main" id="{C583572A-45E0-4688-A26E-F1AC0A778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057650"/>
            <a:ext cx="8343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7F1DE"/>
                </a:solidFill>
              </a:defRPr>
            </a:pPr>
            <a:r>
              <a:rPr sz="1650" b="1">
                <a:solidFill>
                  <a:srgbClr val="F7F1DE"/>
                </a:solidFill>
              </a:rPr>
              <a:t>Loyal customers</a:t>
            </a:r>
          </a:p>
        </p:txBody>
      </p:sp>
      <p:sp>
        <p:nvSpPr>
          <p:cNvPr id="20" name="metric-note-Loyal customers">
            <a:extLst xmlns:a="http://schemas.openxmlformats.org/drawingml/2006/main">
              <a:ext uri="{FF2B5EF4-FFF2-40B4-BE49-F238E27FC236}">
                <a16:creationId xmlns:a16="http://schemas.microsoft.com/office/drawing/2014/main" id="{F6A77924-B327-4E54-9BF0-A859ED7C3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343400"/>
            <a:ext cx="8343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B9AD8C"/>
                </a:solidFill>
              </a:defRPr>
            </a:pPr>
            <a:r>
              <a:rPr sz="1200">
                <a:solidFill>
                  <a:srgbClr val="B9AD8C"/>
                </a:solidFill>
              </a:rPr>
              <a:t>based on more than 10 previous purchases</a:t>
            </a:r>
          </a:p>
        </p:txBody>
      </p:sp>
      <p:sp>
        <p:nvSpPr>
          <p:cNvPr id="21" name="metric-value-Top rating">
            <a:extLst xmlns:a="http://schemas.openxmlformats.org/drawingml/2006/main">
              <a:ext uri="{FF2B5EF4-FFF2-40B4-BE49-F238E27FC236}">
                <a16:creationId xmlns:a16="http://schemas.microsoft.com/office/drawing/2014/main" id="{3C2D35BB-885A-4472-8E10-8B9CB5A62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781550"/>
            <a:ext cx="8343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F5D477"/>
                </a:solidFill>
              </a:defRPr>
            </a:pPr>
            <a:r>
              <a:rPr sz="4200" b="1">
                <a:solidFill>
                  <a:srgbClr val="F5D477"/>
                </a:solidFill>
              </a:rPr>
              <a:t>Gloves 3.86</a:t>
            </a:r>
          </a:p>
        </p:txBody>
      </p:sp>
      <p:sp>
        <p:nvSpPr>
          <p:cNvPr id="22" name="metric-label-Top rating">
            <a:extLst xmlns:a="http://schemas.openxmlformats.org/drawingml/2006/main">
              <a:ext uri="{FF2B5EF4-FFF2-40B4-BE49-F238E27FC236}">
                <a16:creationId xmlns:a16="http://schemas.microsoft.com/office/drawing/2014/main" id="{67A15034-402B-4336-B443-E664026D9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467350"/>
            <a:ext cx="8343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7F1DE"/>
                </a:solidFill>
              </a:defRPr>
            </a:pPr>
            <a:r>
              <a:rPr sz="1650" b="1">
                <a:solidFill>
                  <a:srgbClr val="F7F1DE"/>
                </a:solidFill>
              </a:rPr>
              <a:t>Top rating</a:t>
            </a:r>
          </a:p>
        </p:txBody>
      </p:sp>
      <p:sp>
        <p:nvSpPr>
          <p:cNvPr id="23" name="metric-note-Top rating">
            <a:extLst xmlns:a="http://schemas.openxmlformats.org/drawingml/2006/main">
              <a:ext uri="{FF2B5EF4-FFF2-40B4-BE49-F238E27FC236}">
                <a16:creationId xmlns:a16="http://schemas.microsoft.com/office/drawing/2014/main" id="{B01A772A-4AAA-416F-89A3-51A4A63FA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753100"/>
            <a:ext cx="8343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B9AD8C"/>
                </a:solidFill>
              </a:defRPr>
            </a:pPr>
            <a:r>
              <a:rPr sz="1200">
                <a:solidFill>
                  <a:srgbClr val="B9AD8C"/>
                </a:solidFill>
              </a:rPr>
              <a:t>highest average review rating</a:t>
            </a:r>
          </a:p>
        </p:txBody>
      </p:sp>
      <p:sp>
        <p:nvSpPr>
          <p:cNvPr id="24" name="metric-value-Highest discount rate">
            <a:extLst xmlns:a="http://schemas.openxmlformats.org/drawingml/2006/main">
              <a:ext uri="{FF2B5EF4-FFF2-40B4-BE49-F238E27FC236}">
                <a16:creationId xmlns:a16="http://schemas.microsoft.com/office/drawing/2014/main" id="{31349E5D-BA44-41B4-BF4B-835DDBD03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6210300"/>
            <a:ext cx="8343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F5D477"/>
                </a:solidFill>
              </a:defRPr>
            </a:pPr>
            <a:r>
              <a:rPr sz="4200" b="1">
                <a:solidFill>
                  <a:srgbClr val="F5D477"/>
                </a:solidFill>
              </a:rPr>
              <a:t>Hat 50.0%</a:t>
            </a:r>
          </a:p>
        </p:txBody>
      </p:sp>
      <p:sp>
        <p:nvSpPr>
          <p:cNvPr id="25" name="metric-label-Highest discount rate">
            <a:extLst xmlns:a="http://schemas.openxmlformats.org/drawingml/2006/main">
              <a:ext uri="{FF2B5EF4-FFF2-40B4-BE49-F238E27FC236}">
                <a16:creationId xmlns:a16="http://schemas.microsoft.com/office/drawing/2014/main" id="{AAE787B3-C860-4C3D-89B3-CE824A9DF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6877050"/>
            <a:ext cx="8343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7F1DE"/>
                </a:solidFill>
              </a:defRPr>
            </a:pPr>
            <a:r>
              <a:rPr sz="1650" b="1">
                <a:solidFill>
                  <a:srgbClr val="F7F1DE"/>
                </a:solidFill>
              </a:rPr>
              <a:t>Highest discount rate</a:t>
            </a:r>
          </a:p>
        </p:txBody>
      </p:sp>
      <p:sp>
        <p:nvSpPr>
          <p:cNvPr id="26" name="metric-note-Highest discount rate">
            <a:extLst xmlns:a="http://schemas.openxmlformats.org/drawingml/2006/main">
              <a:ext uri="{FF2B5EF4-FFF2-40B4-BE49-F238E27FC236}">
                <a16:creationId xmlns:a16="http://schemas.microsoft.com/office/drawing/2014/main" id="{557E9883-A586-477D-A5E3-24DAC4B02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7181850"/>
            <a:ext cx="8343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B9AD8C"/>
                </a:solidFill>
              </a:defRPr>
            </a:pPr>
            <a:r>
              <a:rPr sz="1200">
                <a:solidFill>
                  <a:srgbClr val="B9AD8C"/>
                </a:solidFill>
              </a:rPr>
              <a:t>largest share of discounted purchases</a:t>
            </a:r>
          </a:p>
        </p:txBody>
      </p:sp>
      <p:sp>
        <p:nvSpPr>
          <p:cNvPr id="27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E3DF0776-7DD3-4310-A213-A85456F02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277350"/>
            <a:ext cx="1676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756B4D"/>
                </a:solidFill>
              </a:defRPr>
            </a:pPr>
            <a:r>
              <a:rPr sz="1125">
                <a:solidFill>
                  <a:srgbClr val="756B4D"/>
                </a:solidFill>
              </a:rPr>
              <a:t>Customer Behaviour Analysis</a:t>
            </a:r>
          </a:p>
        </p:txBody>
      </p:sp>
      <p:sp>
        <p:nvSpPr>
          <p:cNvPr id="2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B03E0C18-B8CC-463C-96A8-BB3D6E705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21200" y="9277350"/>
            <a:ext cx="152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4AF37"/>
                </a:solidFill>
              </a:defRPr>
            </a:pPr>
            <a:r>
              <a:rPr sz="1125" b="1">
                <a:solidFill>
                  <a:srgbClr val="D4AF37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99175122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B7CA5DF6-14DE-439C-9AE4-046B74577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</p:spPr>
      </p:sp>
      <p:sp>
        <p:nvSpPr>
          <p:cNvPr id="2" name="kicker-rule">
            <a:extLst xmlns:a="http://schemas.openxmlformats.org/drawingml/2006/main">
              <a:ext uri="{FF2B5EF4-FFF2-40B4-BE49-F238E27FC236}">
                <a16:creationId xmlns:a16="http://schemas.microsoft.com/office/drawing/2014/main" id="{D036997D-1AA8-4E5B-BF8E-1FEF1D049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2390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F37"/>
          </a:solidFill>
          <a:ln xmlns:a="http://schemas.openxmlformats.org/drawingml/2006/main" w="0">
            <a:solidFill>
              <a:srgbClr val="D4AF37"/>
            </a:solidFill>
            <a:prstDash val="solid"/>
          </a:ln>
        </p:spPr>
      </p:sp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B9186326-D233-4B4B-9C5D-E03810885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647700"/>
            <a:ext cx="3619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5D477"/>
                </a:solidFill>
              </a:defRPr>
            </a:pPr>
            <a:r>
              <a:rPr sz="1350" b="1">
                <a:solidFill>
                  <a:srgbClr val="F5D477"/>
                </a:solidFill>
              </a:rPr>
              <a:t>RECOMMENDATIONS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A63EA3A-4482-4982-806E-D21F08DD9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28700"/>
            <a:ext cx="122491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F7F1DE"/>
                </a:solidFill>
              </a:defRPr>
            </a:pPr>
            <a:r>
              <a:rPr sz="4200" b="1">
                <a:solidFill>
                  <a:srgbClr val="F7F1DE"/>
                </a:solidFill>
              </a:rPr>
              <a:t>Recommended actions for a stronger customer strategy</a:t>
            </a:r>
          </a:p>
        </p:txBody>
      </p:sp>
      <p:sp>
        <p:nvSpPr>
          <p:cNvPr id="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DA9CA5C3-BB0B-43A2-A159-71283B8A8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28800"/>
            <a:ext cx="88392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B9AD8C"/>
                </a:solidFill>
              </a:defRPr>
            </a:pPr>
            <a:r>
              <a:rPr sz="1875">
                <a:solidFill>
                  <a:srgbClr val="B9AD8C"/>
                </a:solidFill>
              </a:rPr>
              <a:t>Use the analysis to tune inventory, subscription value, discounting, and dashboard cadence.</a:t>
            </a:r>
          </a:p>
        </p:txBody>
      </p:sp>
      <p:sp>
        <p:nvSpPr>
          <p:cNvPr id="6" name="rec-head-1">
            <a:extLst xmlns:a="http://schemas.openxmlformats.org/drawingml/2006/main">
              <a:ext uri="{FF2B5EF4-FFF2-40B4-BE49-F238E27FC236}">
                <a16:creationId xmlns:a16="http://schemas.microsoft.com/office/drawing/2014/main" id="{D6ABBEB5-C7A1-4835-9B2A-764F392B8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67000"/>
            <a:ext cx="4229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4AF37"/>
                </a:solidFill>
              </a:defRPr>
            </a:pPr>
            <a:r>
              <a:rPr sz="1350" b="1">
                <a:solidFill>
                  <a:srgbClr val="D4AF37"/>
                </a:solidFill>
              </a:rPr>
              <a:t>Recommendation</a:t>
            </a:r>
          </a:p>
        </p:txBody>
      </p:sp>
      <p:sp>
        <p:nvSpPr>
          <p:cNvPr id="7" name="rec-head-2">
            <a:extLst xmlns:a="http://schemas.openxmlformats.org/drawingml/2006/main">
              <a:ext uri="{FF2B5EF4-FFF2-40B4-BE49-F238E27FC236}">
                <a16:creationId xmlns:a16="http://schemas.microsoft.com/office/drawing/2014/main" id="{CF49A251-22BD-4338-8F95-DAA8C6D70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667000"/>
            <a:ext cx="5410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4AF37"/>
                </a:solidFill>
              </a:defRPr>
            </a:pPr>
            <a:r>
              <a:rPr sz="1350" b="1">
                <a:solidFill>
                  <a:srgbClr val="D4AF37"/>
                </a:solidFill>
              </a:rPr>
              <a:t>Reason</a:t>
            </a:r>
          </a:p>
        </p:txBody>
      </p:sp>
      <p:sp>
        <p:nvSpPr>
          <p:cNvPr id="8" name="rec-head-3">
            <a:extLst xmlns:a="http://schemas.openxmlformats.org/drawingml/2006/main">
              <a:ext uri="{FF2B5EF4-FFF2-40B4-BE49-F238E27FC236}">
                <a16:creationId xmlns:a16="http://schemas.microsoft.com/office/drawing/2014/main" id="{4ADC5B79-64E6-4B65-8E11-4CBCA86F0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2667000"/>
            <a:ext cx="6362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4AF37"/>
                </a:solidFill>
              </a:defRPr>
            </a:pPr>
            <a:r>
              <a:rPr sz="1350" b="1">
                <a:solidFill>
                  <a:srgbClr val="D4AF37"/>
                </a:solidFill>
              </a:rPr>
              <a:t>Action</a:t>
            </a:r>
          </a:p>
        </p:txBody>
      </p:sp>
      <p:sp>
        <p:nvSpPr>
          <p:cNvPr id="9" name="rec-table-rule">
            <a:extLst xmlns:a="http://schemas.openxmlformats.org/drawingml/2006/main">
              <a:ext uri="{FF2B5EF4-FFF2-40B4-BE49-F238E27FC236}">
                <a16:creationId xmlns:a16="http://schemas.microsoft.com/office/drawing/2014/main" id="{46A7E391-5575-4CF4-9642-CA601B778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33700"/>
            <a:ext cx="1645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71D"/>
          </a:solidFill>
          <a:ln xmlns:a="http://schemas.openxmlformats.org/drawingml/2006/main" w="0">
            <a:solidFill>
              <a:srgbClr val="2B271D"/>
            </a:solidFill>
            <a:prstDash val="solid"/>
          </a:ln>
        </p:spPr>
      </p:sp>
      <p:sp>
        <p:nvSpPr>
          <p:cNvPr id="10" name="rec-label-Strengthen Clothing and Accessories">
            <a:extLst xmlns:a="http://schemas.openxmlformats.org/drawingml/2006/main">
              <a:ext uri="{FF2B5EF4-FFF2-40B4-BE49-F238E27FC236}">
                <a16:creationId xmlns:a16="http://schemas.microsoft.com/office/drawing/2014/main" id="{5CB121E9-8B30-4774-BF3C-590EC4D6F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24200"/>
            <a:ext cx="4229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5D477"/>
                </a:solidFill>
              </a:defRPr>
            </a:pPr>
            <a:r>
              <a:rPr sz="1650" b="1">
                <a:solidFill>
                  <a:srgbClr val="F5D477"/>
                </a:solidFill>
              </a:rPr>
              <a:t>Strengthen Clothing and Accessories</a:t>
            </a:r>
          </a:p>
        </p:txBody>
      </p:sp>
      <p:sp>
        <p:nvSpPr>
          <p:cNvPr id="11" name="rec-reason-Strengthen Clothing and Accessories">
            <a:extLst xmlns:a="http://schemas.openxmlformats.org/drawingml/2006/main">
              <a:ext uri="{FF2B5EF4-FFF2-40B4-BE49-F238E27FC236}">
                <a16:creationId xmlns:a16="http://schemas.microsoft.com/office/drawing/2014/main" id="{7B7FBA52-2EC3-4F97-A776-EEDEBE0A2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124200"/>
            <a:ext cx="5410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7F1DE"/>
                </a:solidFill>
              </a:defRPr>
            </a:pPr>
            <a:r>
              <a:rPr sz="1350">
                <a:solidFill>
                  <a:srgbClr val="F7F1DE"/>
                </a:solidFill>
              </a:rPr>
              <a:t>These categories generate the largest revenue pools.</a:t>
            </a:r>
          </a:p>
        </p:txBody>
      </p:sp>
      <p:sp>
        <p:nvSpPr>
          <p:cNvPr id="12" name="rec-action-Strengthen Clothing and Accessories">
            <a:extLst xmlns:a="http://schemas.openxmlformats.org/drawingml/2006/main">
              <a:ext uri="{FF2B5EF4-FFF2-40B4-BE49-F238E27FC236}">
                <a16:creationId xmlns:a16="http://schemas.microsoft.com/office/drawing/2014/main" id="{A521BE8E-913C-483C-A9F2-109A52DB9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3124200"/>
            <a:ext cx="6362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9AD8C"/>
                </a:solidFill>
              </a:defRPr>
            </a:pPr>
            <a:r>
              <a:rPr sz="1350">
                <a:solidFill>
                  <a:srgbClr val="B9AD8C"/>
                </a:solidFill>
              </a:rPr>
              <a:t>Plan seasonal campaigns and protect stock depth.</a:t>
            </a:r>
          </a:p>
        </p:txBody>
      </p:sp>
      <p:sp>
        <p:nvSpPr>
          <p:cNvPr id="13" name="rec-rule-1">
            <a:extLst xmlns:a="http://schemas.openxmlformats.org/drawingml/2006/main">
              <a:ext uri="{FF2B5EF4-FFF2-40B4-BE49-F238E27FC236}">
                <a16:creationId xmlns:a16="http://schemas.microsoft.com/office/drawing/2014/main" id="{B9E3673B-9FDE-4F1E-B4F4-3DC137F2C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43300"/>
            <a:ext cx="16459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71D"/>
          </a:solidFill>
          <a:ln xmlns:a="http://schemas.openxmlformats.org/drawingml/2006/main" w="0">
            <a:solidFill>
              <a:srgbClr val="2B271D"/>
            </a:solidFill>
            <a:prstDash val="solid"/>
          </a:ln>
        </p:spPr>
      </p:sp>
      <p:sp>
        <p:nvSpPr>
          <p:cNvPr id="14" name="rec-label-Redesign subscriber benefits">
            <a:extLst xmlns:a="http://schemas.openxmlformats.org/drawingml/2006/main">
              <a:ext uri="{FF2B5EF4-FFF2-40B4-BE49-F238E27FC236}">
                <a16:creationId xmlns:a16="http://schemas.microsoft.com/office/drawing/2014/main" id="{A34C6AD7-EB5C-4208-B834-56C97E814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33800"/>
            <a:ext cx="4229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5D477"/>
                </a:solidFill>
              </a:defRPr>
            </a:pPr>
            <a:r>
              <a:rPr sz="1650" b="1">
                <a:solidFill>
                  <a:srgbClr val="F5D477"/>
                </a:solidFill>
              </a:rPr>
              <a:t>Redesign subscriber benefits</a:t>
            </a:r>
          </a:p>
        </p:txBody>
      </p:sp>
      <p:sp>
        <p:nvSpPr>
          <p:cNvPr id="15" name="rec-reason-Redesign subscriber benefits">
            <a:extLst xmlns:a="http://schemas.openxmlformats.org/drawingml/2006/main">
              <a:ext uri="{FF2B5EF4-FFF2-40B4-BE49-F238E27FC236}">
                <a16:creationId xmlns:a16="http://schemas.microsoft.com/office/drawing/2014/main" id="{FF4508B9-1208-48FE-83C6-95E2A41C2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733800"/>
            <a:ext cx="5410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7F1DE"/>
                </a:solidFill>
              </a:defRPr>
            </a:pPr>
            <a:r>
              <a:rPr sz="1350">
                <a:solidFill>
                  <a:srgbClr val="F7F1DE"/>
                </a:solidFill>
              </a:rPr>
              <a:t>Subscribers do not spend more on average today.</a:t>
            </a:r>
          </a:p>
        </p:txBody>
      </p:sp>
      <p:sp>
        <p:nvSpPr>
          <p:cNvPr id="16" name="rec-action-Redesign subscriber benefits">
            <a:extLst xmlns:a="http://schemas.openxmlformats.org/drawingml/2006/main">
              <a:ext uri="{FF2B5EF4-FFF2-40B4-BE49-F238E27FC236}">
                <a16:creationId xmlns:a16="http://schemas.microsoft.com/office/drawing/2014/main" id="{176B4311-E0CE-4601-9C91-6EC7C4BF7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3733800"/>
            <a:ext cx="6362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9AD8C"/>
                </a:solidFill>
              </a:defRPr>
            </a:pPr>
            <a:r>
              <a:rPr sz="1350">
                <a:solidFill>
                  <a:srgbClr val="B9AD8C"/>
                </a:solidFill>
              </a:rPr>
              <a:t>Test bundles, early access, and loyalty credits.</a:t>
            </a:r>
          </a:p>
        </p:txBody>
      </p:sp>
      <p:sp>
        <p:nvSpPr>
          <p:cNvPr id="17" name="rec-rule-2">
            <a:extLst xmlns:a="http://schemas.openxmlformats.org/drawingml/2006/main">
              <a:ext uri="{FF2B5EF4-FFF2-40B4-BE49-F238E27FC236}">
                <a16:creationId xmlns:a16="http://schemas.microsoft.com/office/drawing/2014/main" id="{1B59B66D-F17C-4B1B-935B-D306F2BDE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52900"/>
            <a:ext cx="16459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71D"/>
          </a:solidFill>
          <a:ln xmlns:a="http://schemas.openxmlformats.org/drawingml/2006/main" w="0">
            <a:solidFill>
              <a:srgbClr val="2B271D"/>
            </a:solidFill>
            <a:prstDash val="solid"/>
          </a:ln>
        </p:spPr>
      </p:sp>
      <p:sp>
        <p:nvSpPr>
          <p:cNvPr id="18" name="rec-label-Audit discount strategy">
            <a:extLst xmlns:a="http://schemas.openxmlformats.org/drawingml/2006/main">
              <a:ext uri="{FF2B5EF4-FFF2-40B4-BE49-F238E27FC236}">
                <a16:creationId xmlns:a16="http://schemas.microsoft.com/office/drawing/2014/main" id="{C2C15AB2-CC9F-44AE-8E11-CCDDF576F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43400"/>
            <a:ext cx="4229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5D477"/>
                </a:solidFill>
              </a:defRPr>
            </a:pPr>
            <a:r>
              <a:rPr sz="1650" b="1">
                <a:solidFill>
                  <a:srgbClr val="F5D477"/>
                </a:solidFill>
              </a:rPr>
              <a:t>Audit discount strategy</a:t>
            </a:r>
          </a:p>
        </p:txBody>
      </p:sp>
      <p:sp>
        <p:nvSpPr>
          <p:cNvPr id="19" name="rec-reason-Audit discount strategy">
            <a:extLst xmlns:a="http://schemas.openxmlformats.org/drawingml/2006/main">
              <a:ext uri="{FF2B5EF4-FFF2-40B4-BE49-F238E27FC236}">
                <a16:creationId xmlns:a16="http://schemas.microsoft.com/office/drawing/2014/main" id="{75928936-0F62-4F35-91C1-D63499246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343400"/>
            <a:ext cx="5410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7F1DE"/>
                </a:solidFill>
              </a:defRPr>
            </a:pPr>
            <a:r>
              <a:rPr sz="1350">
                <a:solidFill>
                  <a:srgbClr val="F7F1DE"/>
                </a:solidFill>
              </a:rPr>
              <a:t>Discounted transactions average slightly lower spend.</a:t>
            </a:r>
          </a:p>
        </p:txBody>
      </p:sp>
      <p:sp>
        <p:nvSpPr>
          <p:cNvPr id="20" name="rec-action-Audit discount strategy">
            <a:extLst xmlns:a="http://schemas.openxmlformats.org/drawingml/2006/main">
              <a:ext uri="{FF2B5EF4-FFF2-40B4-BE49-F238E27FC236}">
                <a16:creationId xmlns:a16="http://schemas.microsoft.com/office/drawing/2014/main" id="{1F11120E-94C2-465F-A0B0-CD4DE59B3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4343400"/>
            <a:ext cx="6362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9AD8C"/>
                </a:solidFill>
              </a:defRPr>
            </a:pPr>
            <a:r>
              <a:rPr sz="1350">
                <a:solidFill>
                  <a:srgbClr val="B9AD8C"/>
                </a:solidFill>
              </a:rPr>
              <a:t>Reserve discounts for conversion or inventory-clearance goals.</a:t>
            </a:r>
          </a:p>
        </p:txBody>
      </p:sp>
      <p:sp>
        <p:nvSpPr>
          <p:cNvPr id="21" name="rec-rule-3">
            <a:extLst xmlns:a="http://schemas.openxmlformats.org/drawingml/2006/main">
              <a:ext uri="{FF2B5EF4-FFF2-40B4-BE49-F238E27FC236}">
                <a16:creationId xmlns:a16="http://schemas.microsoft.com/office/drawing/2014/main" id="{DE0D55EE-C3FF-4E9E-9161-30E5873BE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62500"/>
            <a:ext cx="16459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71D"/>
          </a:solidFill>
          <a:ln xmlns:a="http://schemas.openxmlformats.org/drawingml/2006/main" w="0">
            <a:solidFill>
              <a:srgbClr val="2B271D"/>
            </a:solidFill>
            <a:prstDash val="solid"/>
          </a:ln>
        </p:spPr>
      </p:sp>
      <p:sp>
        <p:nvSpPr>
          <p:cNvPr id="22" name="rec-label-Target loyal non-subscribers">
            <a:extLst xmlns:a="http://schemas.openxmlformats.org/drawingml/2006/main">
              <a:ext uri="{FF2B5EF4-FFF2-40B4-BE49-F238E27FC236}">
                <a16:creationId xmlns:a16="http://schemas.microsoft.com/office/drawing/2014/main" id="{8D7A9DA9-B569-4F6E-909E-58EE6F33A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33950"/>
            <a:ext cx="4229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5D477"/>
                </a:solidFill>
              </a:defRPr>
            </a:pPr>
            <a:r>
              <a:rPr sz="1650" b="1">
                <a:solidFill>
                  <a:srgbClr val="F5D477"/>
                </a:solidFill>
              </a:rPr>
              <a:t>Target loyal non-subscribers</a:t>
            </a:r>
          </a:p>
        </p:txBody>
      </p:sp>
      <p:sp>
        <p:nvSpPr>
          <p:cNvPr id="23" name="rec-reason-Target loyal non-subscribers">
            <a:extLst xmlns:a="http://schemas.openxmlformats.org/drawingml/2006/main">
              <a:ext uri="{FF2B5EF4-FFF2-40B4-BE49-F238E27FC236}">
                <a16:creationId xmlns:a16="http://schemas.microsoft.com/office/drawing/2014/main" id="{7BCAA8F0-B4C3-4275-BD37-0C10D1195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933950"/>
            <a:ext cx="5410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7F1DE"/>
                </a:solidFill>
              </a:defRPr>
            </a:pPr>
            <a:r>
              <a:rPr sz="1350">
                <a:solidFill>
                  <a:srgbClr val="F7F1DE"/>
                </a:solidFill>
              </a:rPr>
              <a:t>Most repeat buyers are not subscribed.</a:t>
            </a:r>
          </a:p>
        </p:txBody>
      </p:sp>
      <p:sp>
        <p:nvSpPr>
          <p:cNvPr id="24" name="rec-action-Target loyal non-subscribers">
            <a:extLst xmlns:a="http://schemas.openxmlformats.org/drawingml/2006/main">
              <a:ext uri="{FF2B5EF4-FFF2-40B4-BE49-F238E27FC236}">
                <a16:creationId xmlns:a16="http://schemas.microsoft.com/office/drawing/2014/main" id="{4ACF8009-BBDF-4B39-B074-43B6FCB18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4933950"/>
            <a:ext cx="6362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9AD8C"/>
                </a:solidFill>
              </a:defRPr>
            </a:pPr>
            <a:r>
              <a:rPr sz="1350">
                <a:solidFill>
                  <a:srgbClr val="B9AD8C"/>
                </a:solidFill>
              </a:rPr>
              <a:t>Trigger campaigns from previous purchases above five.</a:t>
            </a:r>
          </a:p>
        </p:txBody>
      </p:sp>
      <p:sp>
        <p:nvSpPr>
          <p:cNvPr id="25" name="rec-rule-4">
            <a:extLst xmlns:a="http://schemas.openxmlformats.org/drawingml/2006/main">
              <a:ext uri="{FF2B5EF4-FFF2-40B4-BE49-F238E27FC236}">
                <a16:creationId xmlns:a16="http://schemas.microsoft.com/office/drawing/2014/main" id="{B65E1751-389F-46FB-AB9E-51DCE4FD7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72100"/>
            <a:ext cx="16459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71D"/>
          </a:solidFill>
          <a:ln xmlns:a="http://schemas.openxmlformats.org/drawingml/2006/main" w="0">
            <a:solidFill>
              <a:srgbClr val="2B271D"/>
            </a:solidFill>
            <a:prstDash val="solid"/>
          </a:ln>
        </p:spPr>
      </p:sp>
      <p:sp>
        <p:nvSpPr>
          <p:cNvPr id="26" name="rec-label-Use dashboard monthly">
            <a:extLst xmlns:a="http://schemas.openxmlformats.org/drawingml/2006/main">
              <a:ext uri="{FF2B5EF4-FFF2-40B4-BE49-F238E27FC236}">
                <a16:creationId xmlns:a16="http://schemas.microsoft.com/office/drawing/2014/main" id="{19FB73C5-A21E-4D41-B1F0-19716BA1F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43550"/>
            <a:ext cx="4229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5D477"/>
                </a:solidFill>
              </a:defRPr>
            </a:pPr>
            <a:r>
              <a:rPr sz="1650" b="1">
                <a:solidFill>
                  <a:srgbClr val="F5D477"/>
                </a:solidFill>
              </a:rPr>
              <a:t>Use dashboard monthly</a:t>
            </a:r>
          </a:p>
        </p:txBody>
      </p:sp>
      <p:sp>
        <p:nvSpPr>
          <p:cNvPr id="27" name="rec-reason-Use dashboard monthly">
            <a:extLst xmlns:a="http://schemas.openxmlformats.org/drawingml/2006/main">
              <a:ext uri="{FF2B5EF4-FFF2-40B4-BE49-F238E27FC236}">
                <a16:creationId xmlns:a16="http://schemas.microsoft.com/office/drawing/2014/main" id="{A8A0E487-38EC-4434-A2C3-D81F1CA60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5543550"/>
            <a:ext cx="5410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7F1DE"/>
                </a:solidFill>
              </a:defRPr>
            </a:pPr>
            <a:r>
              <a:rPr sz="1350">
                <a:solidFill>
                  <a:srgbClr val="F7F1DE"/>
                </a:solidFill>
              </a:rPr>
              <a:t>The PBIX already provides slicers and summary charts.</a:t>
            </a:r>
          </a:p>
        </p:txBody>
      </p:sp>
      <p:sp>
        <p:nvSpPr>
          <p:cNvPr id="28" name="rec-action-Use dashboard monthly">
            <a:extLst xmlns:a="http://schemas.openxmlformats.org/drawingml/2006/main">
              <a:ext uri="{FF2B5EF4-FFF2-40B4-BE49-F238E27FC236}">
                <a16:creationId xmlns:a16="http://schemas.microsoft.com/office/drawing/2014/main" id="{63436856-DA79-4B53-9EBA-92F6268AC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5543550"/>
            <a:ext cx="6362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9AD8C"/>
                </a:solidFill>
              </a:defRPr>
            </a:pPr>
            <a:r>
              <a:rPr sz="1350">
                <a:solidFill>
                  <a:srgbClr val="B9AD8C"/>
                </a:solidFill>
              </a:rPr>
              <a:t>Extend with time trends if transaction dates become available.</a:t>
            </a:r>
          </a:p>
        </p:txBody>
      </p:sp>
      <p:sp>
        <p:nvSpPr>
          <p:cNvPr id="29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F8F2D272-FF43-4ABA-A4CA-221BA170C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296400"/>
            <a:ext cx="1676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756B4D"/>
                </a:solidFill>
              </a:defRPr>
            </a:pPr>
            <a:r>
              <a:rPr sz="1125">
                <a:solidFill>
                  <a:srgbClr val="756B4D"/>
                </a:solidFill>
              </a:rPr>
              <a:t>Customer Behaviour Analysis</a:t>
            </a:r>
          </a:p>
        </p:txBody>
      </p:sp>
      <p:sp>
        <p:nvSpPr>
          <p:cNvPr id="30" name="footer-page">
            <a:extLst xmlns:a="http://schemas.openxmlformats.org/drawingml/2006/main">
              <a:ext uri="{FF2B5EF4-FFF2-40B4-BE49-F238E27FC236}">
                <a16:creationId xmlns:a16="http://schemas.microsoft.com/office/drawing/2014/main" id="{314DA723-3DEE-4F3B-A74A-ADB14DDE7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21200" y="9296400"/>
            <a:ext cx="152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4AF37"/>
                </a:solidFill>
              </a:defRPr>
            </a:pPr>
            <a:r>
              <a:rPr sz="1125" b="1">
                <a:solidFill>
                  <a:srgbClr val="D4AF37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30536528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77A84A64-2E06-49BC-9269-E34BEA0C2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</p:spPr>
      </p:sp>
      <p:sp>
        <p:nvSpPr>
          <p:cNvPr id="2" name="kicker-rule">
            <a:extLst xmlns:a="http://schemas.openxmlformats.org/drawingml/2006/main">
              <a:ext uri="{FF2B5EF4-FFF2-40B4-BE49-F238E27FC236}">
                <a16:creationId xmlns:a16="http://schemas.microsoft.com/office/drawing/2014/main" id="{1A2F7838-8996-4693-BD0F-5CA961EDA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8105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F37"/>
          </a:solidFill>
          <a:ln xmlns:a="http://schemas.openxmlformats.org/drawingml/2006/main" w="0">
            <a:solidFill>
              <a:srgbClr val="D4AF37"/>
            </a:solidFill>
            <a:prstDash val="solid"/>
          </a:ln>
        </p:spPr>
      </p:sp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B07E6C3A-6018-410D-B1B3-F90F45CE7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704850"/>
            <a:ext cx="3619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5D477"/>
                </a:solidFill>
              </a:defRPr>
            </a:pPr>
            <a:r>
              <a:rPr sz="1350" b="1">
                <a:solidFill>
                  <a:srgbClr val="F5D477"/>
                </a:solidFill>
              </a:rPr>
              <a:t>CLOSING MESSAGE</a:t>
            </a:r>
          </a:p>
        </p:txBody>
      </p:sp>
      <p:sp>
        <p:nvSpPr>
          <p:cNvPr id="4" name="close-title">
            <a:extLst xmlns:a="http://schemas.openxmlformats.org/drawingml/2006/main">
              <a:ext uri="{FF2B5EF4-FFF2-40B4-BE49-F238E27FC236}">
                <a16:creationId xmlns:a16="http://schemas.microsoft.com/office/drawing/2014/main" id="{167CF010-53B2-4DE7-AE85-B3628E329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123950"/>
            <a:ext cx="8191500" cy="1790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850" b="1">
                <a:solidFill>
                  <a:srgbClr val="F7F1DE"/>
                </a:solidFill>
              </a:defRPr>
            </a:pPr>
            <a:r>
              <a:rPr sz="5850" b="1">
                <a:solidFill>
                  <a:srgbClr val="F7F1DE"/>
                </a:solidFill>
              </a:rPr>
              <a:t>This project proves the full analytics loop.</a:t>
            </a:r>
          </a:p>
        </p:txBody>
      </p:sp>
      <p:sp>
        <p:nvSpPr>
          <p:cNvPr id="5" name="close-subtitle">
            <a:extLst xmlns:a="http://schemas.openxmlformats.org/drawingml/2006/main">
              <a:ext uri="{FF2B5EF4-FFF2-40B4-BE49-F238E27FC236}">
                <a16:creationId xmlns:a16="http://schemas.microsoft.com/office/drawing/2014/main" id="{C26A221F-B231-47E8-949F-35226AE16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05150"/>
            <a:ext cx="86106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B9AD8C"/>
                </a:solidFill>
              </a:defRPr>
            </a:pPr>
            <a:r>
              <a:rPr sz="2175">
                <a:solidFill>
                  <a:srgbClr val="B9AD8C"/>
                </a:solidFill>
              </a:rPr>
              <a:t>Python prepares the data, SQL answers the business questions, and Power BI makes the findings usable for decisions.</a:t>
            </a:r>
          </a:p>
        </p:txBody>
      </p:sp>
      <p:sp>
        <p:nvSpPr>
          <p:cNvPr id="6" name="close-divider">
            <a:extLst xmlns:a="http://schemas.openxmlformats.org/drawingml/2006/main">
              <a:ext uri="{FF2B5EF4-FFF2-40B4-BE49-F238E27FC236}">
                <a16:creationId xmlns:a16="http://schemas.microsoft.com/office/drawing/2014/main" id="{654978A6-11FB-4BD8-956D-C88F405F1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85800"/>
            <a:ext cx="114300" cy="853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F37"/>
          </a:solidFill>
        </p:spPr>
      </p:sp>
      <p:sp>
        <p:nvSpPr>
          <p:cNvPr id="7" name="metric-value-Project scale">
            <a:extLst xmlns:a="http://schemas.openxmlformats.org/drawingml/2006/main">
              <a:ext uri="{FF2B5EF4-FFF2-40B4-BE49-F238E27FC236}">
                <a16:creationId xmlns:a16="http://schemas.microsoft.com/office/drawing/2014/main" id="{4981E28E-2047-487D-AC94-A792A52A1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295650"/>
            <a:ext cx="69151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F5D477"/>
                </a:solidFill>
              </a:defRPr>
            </a:pPr>
            <a:r>
              <a:rPr sz="4200" b="1">
                <a:solidFill>
                  <a:srgbClr val="F5D477"/>
                </a:solidFill>
              </a:rPr>
              <a:t>3 tools</a:t>
            </a:r>
          </a:p>
        </p:txBody>
      </p:sp>
      <p:sp>
        <p:nvSpPr>
          <p:cNvPr id="8" name="metric-label-Project scale">
            <a:extLst xmlns:a="http://schemas.openxmlformats.org/drawingml/2006/main">
              <a:ext uri="{FF2B5EF4-FFF2-40B4-BE49-F238E27FC236}">
                <a16:creationId xmlns:a16="http://schemas.microsoft.com/office/drawing/2014/main" id="{8D30DBCA-3079-4A5E-A0A7-044CCFF7F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962400"/>
            <a:ext cx="69151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7F1DE"/>
                </a:solidFill>
              </a:defRPr>
            </a:pPr>
            <a:r>
              <a:rPr sz="1650" b="1">
                <a:solidFill>
                  <a:srgbClr val="F7F1DE"/>
                </a:solidFill>
              </a:rPr>
              <a:t>Project scale</a:t>
            </a:r>
          </a:p>
        </p:txBody>
      </p:sp>
      <p:sp>
        <p:nvSpPr>
          <p:cNvPr id="9" name="metric-note-Project scale">
            <a:extLst xmlns:a="http://schemas.openxmlformats.org/drawingml/2006/main">
              <a:ext uri="{FF2B5EF4-FFF2-40B4-BE49-F238E27FC236}">
                <a16:creationId xmlns:a16="http://schemas.microsoft.com/office/drawing/2014/main" id="{CF6BFCBC-DE69-4613-9C1C-6EEFF9166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4248150"/>
            <a:ext cx="69151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B9AD8C"/>
                </a:solidFill>
              </a:defRPr>
            </a:pPr>
            <a:r>
              <a:rPr sz="1200">
                <a:solidFill>
                  <a:srgbClr val="B9AD8C"/>
                </a:solidFill>
              </a:rPr>
              <a:t>Python, SQL, Power BI</a:t>
            </a:r>
          </a:p>
        </p:txBody>
      </p:sp>
      <p:sp>
        <p:nvSpPr>
          <p:cNvPr id="10" name="metric-value-Business focus">
            <a:extLst xmlns:a="http://schemas.openxmlformats.org/drawingml/2006/main">
              <a:ext uri="{FF2B5EF4-FFF2-40B4-BE49-F238E27FC236}">
                <a16:creationId xmlns:a16="http://schemas.microsoft.com/office/drawing/2014/main" id="{D7D14C6B-9C70-4F27-8924-A92A46654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4686300"/>
            <a:ext cx="69151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F5D477"/>
                </a:solidFill>
              </a:defRPr>
            </a:pPr>
            <a:r>
              <a:rPr sz="4200" b="1">
                <a:solidFill>
                  <a:srgbClr val="F5D477"/>
                </a:solidFill>
              </a:rPr>
              <a:t>5 actions</a:t>
            </a:r>
          </a:p>
        </p:txBody>
      </p:sp>
      <p:sp>
        <p:nvSpPr>
          <p:cNvPr id="11" name="metric-label-Business focus">
            <a:extLst xmlns:a="http://schemas.openxmlformats.org/drawingml/2006/main">
              <a:ext uri="{FF2B5EF4-FFF2-40B4-BE49-F238E27FC236}">
                <a16:creationId xmlns:a16="http://schemas.microsoft.com/office/drawing/2014/main" id="{EC22A30C-3999-4353-B102-6B3B4FEA1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5372100"/>
            <a:ext cx="69151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7F1DE"/>
                </a:solidFill>
              </a:defRPr>
            </a:pPr>
            <a:r>
              <a:rPr sz="1650" b="1">
                <a:solidFill>
                  <a:srgbClr val="F7F1DE"/>
                </a:solidFill>
              </a:rPr>
              <a:t>Business focus</a:t>
            </a:r>
          </a:p>
        </p:txBody>
      </p:sp>
      <p:sp>
        <p:nvSpPr>
          <p:cNvPr id="12" name="metric-note-Business focus">
            <a:extLst xmlns:a="http://schemas.openxmlformats.org/drawingml/2006/main">
              <a:ext uri="{FF2B5EF4-FFF2-40B4-BE49-F238E27FC236}">
                <a16:creationId xmlns:a16="http://schemas.microsoft.com/office/drawing/2014/main" id="{94953A60-BEE0-4F5C-91F3-83D5D45C1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5657850"/>
            <a:ext cx="69151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B9AD8C"/>
                </a:solidFill>
              </a:defRPr>
            </a:pPr>
            <a:r>
              <a:rPr sz="1200">
                <a:solidFill>
                  <a:srgbClr val="B9AD8C"/>
                </a:solidFill>
              </a:rPr>
              <a:t>inventory, subscription, discounting, loyalty, dashboard cadence</a:t>
            </a:r>
          </a:p>
        </p:txBody>
      </p:sp>
      <p:sp>
        <p:nvSpPr>
          <p:cNvPr id="13" name="close-next">
            <a:extLst xmlns:a="http://schemas.openxmlformats.org/drawingml/2006/main">
              <a:ext uri="{FF2B5EF4-FFF2-40B4-BE49-F238E27FC236}">
                <a16:creationId xmlns:a16="http://schemas.microsoft.com/office/drawing/2014/main" id="{0FBCA4F9-943F-4229-AD64-24FEB3FAE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6076950"/>
            <a:ext cx="69151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F5D477"/>
                </a:solidFill>
              </a:defRPr>
            </a:pPr>
            <a:r>
              <a:rPr sz="1875">
                <a:solidFill>
                  <a:srgbClr val="F5D477"/>
                </a:solidFill>
              </a:rPr>
              <a:t>Next upgrade: add transaction dates for trend, cohort, retention, and customer lifetime value analysis.</a:t>
            </a:r>
          </a:p>
        </p:txBody>
      </p:sp>
      <p:sp>
        <p:nvSpPr>
          <p:cNvPr id="14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5067BA4E-3228-4DCA-9A73-46DC1C3DD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239250"/>
            <a:ext cx="1676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756B4D"/>
                </a:solidFill>
              </a:defRPr>
            </a:pPr>
            <a:r>
              <a:rPr sz="1125">
                <a:solidFill>
                  <a:srgbClr val="756B4D"/>
                </a:solidFill>
              </a:rPr>
              <a:t>Customer Behaviour Analysis</a:t>
            </a:r>
          </a:p>
        </p:txBody>
      </p:sp>
      <p:sp>
        <p:nvSpPr>
          <p:cNvPr id="15" name="footer-page">
            <a:extLst xmlns:a="http://schemas.openxmlformats.org/drawingml/2006/main">
              <a:ext uri="{FF2B5EF4-FFF2-40B4-BE49-F238E27FC236}">
                <a16:creationId xmlns:a16="http://schemas.microsoft.com/office/drawing/2014/main" id="{95C3707E-2EB6-4C3F-BC60-E04B5E866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21200" y="9239250"/>
            <a:ext cx="152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4AF37"/>
                </a:solidFill>
              </a:defRPr>
            </a:pPr>
            <a:r>
              <a:rPr sz="1125" b="1">
                <a:solidFill>
                  <a:srgbClr val="D4AF37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552749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2026-05-11T15:54:02.3940000Z</dcterms:created>
  <dcterms:modified xsi:type="dcterms:W3CDTF">2026-05-11T15:54:02.3940000Z</dcterms:modified>
</coreProperties>
</file>