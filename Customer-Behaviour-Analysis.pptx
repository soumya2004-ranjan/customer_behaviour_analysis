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5999"/>
            <a:ext cx="46165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Behaviour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4158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business-ready report covering Python data preparation, PostgreSQL SQL analysis, and Power BI dashboard delivery — translating 3,900 customer records into actionable retail insights.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81499"/>
            <a:ext cx="64889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5E5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3228752"/>
            <a:ext cx="4692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44851" y="3181499"/>
            <a:ext cx="891480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5E5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34669" y="3228752"/>
            <a:ext cx="7118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607174" y="3181499"/>
            <a:ext cx="72367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5E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96992" y="3228752"/>
            <a:ext cx="54404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1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97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records in source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97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$233K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Represented by purchase amount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$59.76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43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Mean purchase value per customer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3.75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4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43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 median imputation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2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is led by Clothing and Accessories due to order volume, while average purchase value remains tightly clustered around $60 across most customer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007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725662"/>
            <a:ext cx="4107135" cy="2347764"/>
          </a:xfrm>
          <a:prstGeom prst="roundRect">
            <a:avLst>
              <a:gd name="adj" fmla="val 4348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86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Headline Finding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230636"/>
            <a:ext cx="38236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Broad, stable purchasing behavior across categories, seasons, and age groups. Subscribers average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$59.49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non-subscribers at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$59.87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subscription is not yet a spend differentiator.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3265438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Discounted purchases average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$59.28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$60.13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non-discounted — discounting should be reviewed for margin impact.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86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Highlights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230636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Clothing revenue: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$104,264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; Accessories: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$74,200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Fall is the strongest season: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$60,018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revenue,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$61.56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avg purchase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3,116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customers qualify as Loyal (10+ previous purchases)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Dashboard: 1 page, 18 visuals with category, gender, and subscription slicers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68201"/>
            <a:ext cx="4121348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 &amp; Workflow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71" y="987623"/>
            <a:ext cx="631254" cy="7575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5565" y="111383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Ingest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5565" y="1378521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 CSV in pandas — 3,900 structured records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71" y="1745159"/>
            <a:ext cx="631254" cy="7575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5565" y="187136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85565" y="2136056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Clean, impute ratings, engineer age &amp; frequency features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2502694"/>
            <a:ext cx="631254" cy="7575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5565" y="262890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Persist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85565" y="2893591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Upload clean data to PostgreSQL customer table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1" y="3260229"/>
            <a:ext cx="631254" cy="7575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5565" y="338643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185565" y="3651126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 queries on revenue, discounts, loyalty &amp; segments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71" y="4017764"/>
            <a:ext cx="631254" cy="7575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5565" y="414397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185565" y="4408661"/>
            <a:ext cx="75165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 dashboard with KPIs, slicers &amp; charts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996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973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Source Dimensions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6052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rows · 18 columns · 25 products · 4 categories · 50 locations · Ages 18–70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4169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Only 37 missing values in Review Rating — resolved via category-median imputation.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254797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474616"/>
            <a:ext cx="177180" cy="1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431977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Category-median imputation preserves rating behavior without forcing a global average.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715021"/>
            <a:ext cx="3902943" cy="23083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2753" y="2013868"/>
            <a:ext cx="146447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104k</a:t>
            </a:r>
            <a:endParaRPr lang="en-US" sz="400" dirty="0"/>
          </a:p>
        </p:txBody>
      </p:sp>
      <p:sp>
        <p:nvSpPr>
          <p:cNvPr id="11" name="Text 7"/>
          <p:cNvSpPr/>
          <p:nvPr/>
        </p:nvSpPr>
        <p:spPr>
          <a:xfrm>
            <a:off x="7299763" y="2525837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74.2k</a:t>
            </a:r>
            <a:endParaRPr lang="en-US" sz="400" dirty="0"/>
          </a:p>
        </p:txBody>
      </p:sp>
      <p:sp>
        <p:nvSpPr>
          <p:cNvPr id="12" name="Text 8"/>
          <p:cNvSpPr/>
          <p:nvPr/>
        </p:nvSpPr>
        <p:spPr>
          <a:xfrm>
            <a:off x="6117073" y="3037805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36.1k</a:t>
            </a:r>
            <a:endParaRPr lang="en-US" sz="400" dirty="0"/>
          </a:p>
        </p:txBody>
      </p:sp>
      <p:sp>
        <p:nvSpPr>
          <p:cNvPr id="13" name="Text 9"/>
          <p:cNvSpPr/>
          <p:nvPr/>
        </p:nvSpPr>
        <p:spPr>
          <a:xfrm>
            <a:off x="5567762" y="3549774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18.5k</a:t>
            </a:r>
            <a:endParaRPr lang="en-US" sz="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33301"/>
            <a:ext cx="2863379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Data Preparation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513433"/>
            <a:ext cx="4580409" cy="2556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9254" y="84973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Preparation Steps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19254" y="1098352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819254" y="1260872"/>
            <a:ext cx="2349178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7" name="Text 4"/>
          <p:cNvSpPr/>
          <p:nvPr/>
        </p:nvSpPr>
        <p:spPr>
          <a:xfrm>
            <a:off x="5819254" y="1341462"/>
            <a:ext cx="155287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Rating Imputation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19254" y="1580555"/>
            <a:ext cx="2349178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Fill 37 blanks using category medians — keeps rating analysis complete.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819254" y="2023914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19254" y="2186434"/>
            <a:ext cx="2349178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1" name="Text 8"/>
          <p:cNvSpPr/>
          <p:nvPr/>
        </p:nvSpPr>
        <p:spPr>
          <a:xfrm>
            <a:off x="5819254" y="2267024"/>
            <a:ext cx="132040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Column Normalization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19254" y="2506117"/>
            <a:ext cx="2349178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Lowercase, underscore names; rename purchase amount field for SQL consistency.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19254" y="2949476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19254" y="3111996"/>
            <a:ext cx="2349178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5" name="Text 12"/>
          <p:cNvSpPr/>
          <p:nvPr/>
        </p:nvSpPr>
        <p:spPr>
          <a:xfrm>
            <a:off x="5819254" y="3192587"/>
            <a:ext cx="150591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&amp; Frequency Features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19254" y="3431679"/>
            <a:ext cx="2349178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Young Adult, Adult, Middle-aged, Senior segments; map frequency to day intervals.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19254" y="3875038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819254" y="4037558"/>
            <a:ext cx="2349178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9" name="Text 16"/>
          <p:cNvSpPr/>
          <p:nvPr/>
        </p:nvSpPr>
        <p:spPr>
          <a:xfrm>
            <a:off x="5819254" y="411814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Loading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19254" y="4357241"/>
            <a:ext cx="2349178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SQLAlchemy + psycopg2 load clean customer table into PostgreSQL.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37170"/>
            <a:ext cx="24366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809104"/>
            <a:ext cx="160704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Questions Answered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209452" y="1036737"/>
            <a:ext cx="2199233" cy="705743"/>
          </a:xfrm>
          <a:prstGeom prst="roundRect">
            <a:avLst>
              <a:gd name="adj" fmla="val 5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1147" y="114843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Gender Revenue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21147" y="1367656"/>
            <a:ext cx="19758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customers drive higher total revenue; female avg spend is slightly higher.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09452" y="1809452"/>
            <a:ext cx="2199233" cy="705743"/>
          </a:xfrm>
          <a:prstGeom prst="roundRect">
            <a:avLst>
              <a:gd name="adj" fmla="val 5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1147" y="192114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21147" y="2140372"/>
            <a:ext cx="19758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 do not yet spend more on average than non-subscribers.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09452" y="2582168"/>
            <a:ext cx="2199233" cy="705743"/>
          </a:xfrm>
          <a:prstGeom prst="roundRect">
            <a:avLst>
              <a:gd name="adj" fmla="val 5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1147" y="269386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 Analysis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21147" y="2913087"/>
            <a:ext cx="19758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Discounts are frequent but do not lift average spend in current data.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09452" y="3354884"/>
            <a:ext cx="2199233" cy="705743"/>
          </a:xfrm>
          <a:prstGeom prst="roundRect">
            <a:avLst>
              <a:gd name="adj" fmla="val 5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1147" y="346657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Segmentation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1147" y="3685803"/>
            <a:ext cx="19758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3,116 Loyal customers (10+ purchases); Young Adult leads age-group revenue at $62,143.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09452" y="4136008"/>
            <a:ext cx="2199233" cy="594940"/>
          </a:xfrm>
          <a:prstGeom prst="roundRect">
            <a:avLst>
              <a:gd name="adj" fmla="val 6881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60" y="4272483"/>
            <a:ext cx="121816" cy="974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26084" y="4227314"/>
            <a:ext cx="1785193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extra closing parenthesis exists after the top-products-by-category query — remove it for clean execution.</a:t>
            </a:r>
            <a:endParaRPr lang="en-US" sz="7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26" y="1577578"/>
            <a:ext cx="4288036" cy="2393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9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3188"/>
            <a:ext cx="4752677" cy="2652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99435" y="11914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18 Visuals · 1 Page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580385" y="1553319"/>
            <a:ext cx="38100" cy="854943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6" name="Text 3"/>
          <p:cNvSpPr/>
          <p:nvPr/>
        </p:nvSpPr>
        <p:spPr>
          <a:xfrm>
            <a:off x="5779294" y="1572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KPI Strip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779294" y="1935584"/>
            <a:ext cx="2873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Customers, avg purchase, avg rating, revenue — quick performance baseline.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80385" y="2653680"/>
            <a:ext cx="38100" cy="854943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9" name="Text 6"/>
          <p:cNvSpPr/>
          <p:nvPr/>
        </p:nvSpPr>
        <p:spPr>
          <a:xfrm>
            <a:off x="5779294" y="26727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Slicer Panel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79294" y="3035945"/>
            <a:ext cx="2873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Filter by subscription, gender, category, and shipping type.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80385" y="3754041"/>
            <a:ext cx="38100" cy="854943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2" name="Text 9"/>
          <p:cNvSpPr/>
          <p:nvPr/>
        </p:nvSpPr>
        <p:spPr>
          <a:xfrm>
            <a:off x="5779294" y="37730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&amp; Age Charts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779294" y="4136306"/>
            <a:ext cx="2873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and order count by category; revenue and customer count by age band.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696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Findings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13470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359991"/>
            <a:ext cx="18389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Concentration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66650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Clothing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$104,264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Accessories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$74,200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dominate total revenue.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213470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3599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Gender Behavior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666503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Female avg spend: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$60.25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Male total revenue: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$157,890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408411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Seasonality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86144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Fall leads with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$60,018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revenue and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$61.56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avg purchase.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408411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Gap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286144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 avg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$59.49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non-subscribers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$59.87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underperforming.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603352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7498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 Effect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4056385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Discounted avg: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$59.28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non-discounted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$60.13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no spend lift.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603352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9363" y="37498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Top-Rated Products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9363" y="4056385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Gloves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3.86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Sandals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3.84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Boots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3.82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Hat has highest discount rate at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50%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7654" y="401166"/>
            <a:ext cx="4313858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Recommendations &amp; Conclusion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847654" y="926306"/>
            <a:ext cx="4877693" cy="691455"/>
          </a:xfrm>
          <a:prstGeom prst="roundRect">
            <a:avLst>
              <a:gd name="adj" fmla="val 991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33366" y="926306"/>
            <a:ext cx="57150" cy="691455"/>
          </a:xfrm>
          <a:prstGeom prst="roundRect">
            <a:avLst>
              <a:gd name="adj" fmla="val 87907"/>
            </a:avLst>
          </a:prstGeom>
          <a:solidFill>
            <a:srgbClr val="E5E5E0"/>
          </a:solidFill>
          <a:ln/>
        </p:spPr>
      </p:sp>
      <p:sp>
        <p:nvSpPr>
          <p:cNvPr id="6" name="Text 3"/>
          <p:cNvSpPr/>
          <p:nvPr/>
        </p:nvSpPr>
        <p:spPr>
          <a:xfrm>
            <a:off x="4024387" y="1060177"/>
            <a:ext cx="22722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Strengthen Clothing &amp; Accessories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24387" y="1307529"/>
            <a:ext cx="456708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 seasonal promotions, bundles, and stock depth around top-revenue categories.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7654" y="1718667"/>
            <a:ext cx="4877693" cy="691455"/>
          </a:xfrm>
          <a:prstGeom prst="roundRect">
            <a:avLst>
              <a:gd name="adj" fmla="val 991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33366" y="1718667"/>
            <a:ext cx="57150" cy="691455"/>
          </a:xfrm>
          <a:prstGeom prst="roundRect">
            <a:avLst>
              <a:gd name="adj" fmla="val 87907"/>
            </a:avLst>
          </a:prstGeom>
          <a:solidFill>
            <a:srgbClr val="E5E5E0"/>
          </a:solidFill>
          <a:ln/>
        </p:spPr>
      </p:sp>
      <p:sp>
        <p:nvSpPr>
          <p:cNvPr id="10" name="Text 7"/>
          <p:cNvSpPr/>
          <p:nvPr/>
        </p:nvSpPr>
        <p:spPr>
          <a:xfrm>
            <a:off x="4024387" y="1852538"/>
            <a:ext cx="19269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Redesign Subscriber Benefits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24387" y="2099890"/>
            <a:ext cx="456708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subscriber-only bundles, early access, or loyalty credit tied to repeat purchases.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7654" y="2511028"/>
            <a:ext cx="4877693" cy="691455"/>
          </a:xfrm>
          <a:prstGeom prst="roundRect">
            <a:avLst>
              <a:gd name="adj" fmla="val 991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33366" y="2511028"/>
            <a:ext cx="57150" cy="691455"/>
          </a:xfrm>
          <a:prstGeom prst="roundRect">
            <a:avLst>
              <a:gd name="adj" fmla="val 87907"/>
            </a:avLst>
          </a:prstGeom>
          <a:solidFill>
            <a:srgbClr val="E5E5E0"/>
          </a:solidFill>
          <a:ln/>
        </p:spPr>
      </p:sp>
      <p:sp>
        <p:nvSpPr>
          <p:cNvPr id="14" name="Text 11"/>
          <p:cNvSpPr/>
          <p:nvPr/>
        </p:nvSpPr>
        <p:spPr>
          <a:xfrm>
            <a:off x="4024387" y="2644899"/>
            <a:ext cx="15793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Audit Discount Strategy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24387" y="2892251"/>
            <a:ext cx="456708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 margin impact; reserve discounts for conversion or inventory-clearance goals.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47654" y="3303389"/>
            <a:ext cx="4877693" cy="691455"/>
          </a:xfrm>
          <a:prstGeom prst="roundRect">
            <a:avLst>
              <a:gd name="adj" fmla="val 991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33366" y="3303389"/>
            <a:ext cx="57150" cy="691455"/>
          </a:xfrm>
          <a:prstGeom prst="roundRect">
            <a:avLst>
              <a:gd name="adj" fmla="val 87907"/>
            </a:avLst>
          </a:prstGeom>
          <a:solidFill>
            <a:srgbClr val="E5E5E0"/>
          </a:solidFill>
          <a:ln/>
        </p:spPr>
      </p:sp>
      <p:sp>
        <p:nvSpPr>
          <p:cNvPr id="18" name="Text 15"/>
          <p:cNvSpPr/>
          <p:nvPr/>
        </p:nvSpPr>
        <p:spPr>
          <a:xfrm>
            <a:off x="4024387" y="3437260"/>
            <a:ext cx="208314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Activate Loyal Non-Subscribers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024387" y="3684612"/>
            <a:ext cx="456708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5+ previous purchases as a trigger for subscription campaigns.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7654" y="4108326"/>
            <a:ext cx="4877693" cy="634008"/>
          </a:xfrm>
          <a:prstGeom prst="roundRect">
            <a:avLst>
              <a:gd name="adj" fmla="val 7924"/>
            </a:avLst>
          </a:prstGeom>
          <a:solidFill>
            <a:srgbClr val="B6D6FC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237" y="4286399"/>
            <a:ext cx="149498" cy="1195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36318" y="4239071"/>
            <a:ext cx="436944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upgrade: adding transaction dates would unlock retention trends, cohort analysis, and customer lifetime value modeling.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2026-05-11T16:14:12Z</dcterms:created>
  <dcterms:modified xsi:type="dcterms:W3CDTF">2026-05-11T16:14:12Z</dcterms:modified>
</cp:coreProperties>
</file>